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77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69" r:id="rId14"/>
    <p:sldId id="270" r:id="rId15"/>
    <p:sldId id="272" r:id="rId16"/>
    <p:sldId id="274" r:id="rId17"/>
    <p:sldId id="271" r:id="rId18"/>
    <p:sldId id="275" r:id="rId19"/>
    <p:sldId id="337" r:id="rId20"/>
    <p:sldId id="273" r:id="rId21"/>
    <p:sldId id="338" r:id="rId22"/>
    <p:sldId id="276" r:id="rId23"/>
    <p:sldId id="336" r:id="rId24"/>
    <p:sldId id="334" r:id="rId25"/>
  </p:sldIdLst>
  <p:sldSz cx="12192000" cy="68580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FF8"/>
    <a:srgbClr val="1A2B4A"/>
    <a:srgbClr val="355034"/>
    <a:srgbClr val="C8862A"/>
    <a:srgbClr val="111A27"/>
    <a:srgbClr val="B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0E1B1-3E75-4278-9B3E-3BC75423FD1F}" v="9" dt="2026-03-29T13:32:12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FG" userId="c8aeaa0cc84ff06d" providerId="LiveId" clId="{518B1E85-DA0E-4F8B-B50D-C24AC519E47E}"/>
    <pc:docChg chg="custSel modSld">
      <pc:chgData name="Maximilian FG" userId="c8aeaa0cc84ff06d" providerId="LiveId" clId="{518B1E85-DA0E-4F8B-B50D-C24AC519E47E}" dt="2026-03-29T13:32:21.783" v="31" actId="3626"/>
      <pc:docMkLst>
        <pc:docMk/>
      </pc:docMkLst>
      <pc:sldChg chg="addSp modSp">
        <pc:chgData name="Maximilian FG" userId="c8aeaa0cc84ff06d" providerId="LiveId" clId="{518B1E85-DA0E-4F8B-B50D-C24AC519E47E}" dt="2026-03-29T13:31:19.016" v="3" actId="1076"/>
        <pc:sldMkLst>
          <pc:docMk/>
          <pc:sldMk cId="1057562276" sldId="276"/>
        </pc:sldMkLst>
        <pc:picChg chg="add mod">
          <ac:chgData name="Maximilian FG" userId="c8aeaa0cc84ff06d" providerId="LiveId" clId="{518B1E85-DA0E-4F8B-B50D-C24AC519E47E}" dt="2026-03-29T13:31:19.016" v="3" actId="1076"/>
          <ac:picMkLst>
            <pc:docMk/>
            <pc:sldMk cId="1057562276" sldId="276"/>
            <ac:picMk id="4098" creationId="{B803FD98-8B6C-2536-47B7-DF48E55E8E80}"/>
          </ac:picMkLst>
        </pc:picChg>
      </pc:sldChg>
      <pc:sldChg chg="addSp delSp modSp mod">
        <pc:chgData name="Maximilian FG" userId="c8aeaa0cc84ff06d" providerId="LiveId" clId="{518B1E85-DA0E-4F8B-B50D-C24AC519E47E}" dt="2026-03-29T13:32:21.783" v="31" actId="3626"/>
        <pc:sldMkLst>
          <pc:docMk/>
          <pc:sldMk cId="2003935491" sldId="336"/>
        </pc:sldMkLst>
        <pc:spChg chg="mod">
          <ac:chgData name="Maximilian FG" userId="c8aeaa0cc84ff06d" providerId="LiveId" clId="{518B1E85-DA0E-4F8B-B50D-C24AC519E47E}" dt="2026-03-29T13:32:02.502" v="24" actId="20577"/>
          <ac:spMkLst>
            <pc:docMk/>
            <pc:sldMk cId="2003935491" sldId="336"/>
            <ac:spMk id="4" creationId="{778D6DE4-2F1F-1278-D85A-317A30C6864F}"/>
          </ac:spMkLst>
        </pc:spChg>
        <pc:spChg chg="add mod ord">
          <ac:chgData name="Maximilian FG" userId="c8aeaa0cc84ff06d" providerId="LiveId" clId="{518B1E85-DA0E-4F8B-B50D-C24AC519E47E}" dt="2026-03-29T13:32:21.783" v="31" actId="3626"/>
          <ac:spMkLst>
            <pc:docMk/>
            <pc:sldMk cId="2003935491" sldId="336"/>
            <ac:spMk id="8" creationId="{B1DC08D8-7B32-D754-C60E-B5C5E655AB40}"/>
          </ac:spMkLst>
        </pc:spChg>
        <pc:spChg chg="add del mod">
          <ac:chgData name="Maximilian FG" userId="c8aeaa0cc84ff06d" providerId="LiveId" clId="{518B1E85-DA0E-4F8B-B50D-C24AC519E47E}" dt="2026-03-29T13:31:59.404" v="23" actId="478"/>
          <ac:spMkLst>
            <pc:docMk/>
            <pc:sldMk cId="2003935491" sldId="336"/>
            <ac:spMk id="10" creationId="{92DA59AA-2F70-B9FC-9B44-0A8D501514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90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70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40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09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278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848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82CA-2B3C-A67F-D52C-9DF9CF5B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A4522-7F69-FF61-AADC-7455FCDB1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F1798-639B-9988-CEE0-A9D73B4B6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7E0C5-4FB2-F533-ABEC-09972A6A1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18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083A-ACC8-21A5-473C-DAD81127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23FD6-3779-2B97-E2BD-FB85FA06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86A64-3F63-E3BE-7B94-E150623C3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97EF-3B71-3788-15A1-0B06354DE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66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A9CC-5F8D-56BF-8B10-8D944AE0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B01D2-037E-3D16-F174-536D9E068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2A347-BB88-CBD6-4E7D-7561864F7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88537-ADAE-BB9F-C1C4-A041287B5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75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21A3-9416-A575-2004-25EC99B7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F4B96-4A99-47FC-9F1D-52B0AD82B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B0C59-DD47-E686-E13F-76466F4B8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DB430-C099-3D2A-9C81-BA0991337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26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2A10-2BDB-B65B-F3C2-9A4E00C2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2C190-0373-4AAD-53BB-C6CEB8BD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0FDCA-5232-C0B8-F53F-463B09775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8DDB-A072-EB5B-95AA-921F22D7E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50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32CB-45FB-9D69-9029-C68BE83F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2F029-CE4F-68AC-2BC7-9038C9FA6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AB646-5E7D-BD41-25F6-91AD36151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6FF7D-8E33-F437-929F-89E084ABF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5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5656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665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125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185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616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93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843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779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394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87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1607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85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5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hyperlink" Target="https://deckez.com/" TargetMode="External"/><Relationship Id="rId3" Type="http://schemas.openxmlformats.org/officeDocument/2006/relationships/image" Target="../media/image14.png"/><Relationship Id="rId7" Type="http://schemas.openxmlformats.org/officeDocument/2006/relationships/hyperlink" Target="https://www.instagram.com/egg_slide/" TargetMode="External"/><Relationship Id="rId12" Type="http://schemas.openxmlformats.org/officeDocument/2006/relationships/image" Target="../media/image18.png"/><Relationship Id="rId2" Type="http://schemas.openxmlformats.org/officeDocument/2006/relationships/hyperlink" Target="twitter:%20https://twitter.com/deckez_officia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facebook.com/SlideEgg" TargetMode="External"/><Relationship Id="rId10" Type="http://schemas.openxmlformats.org/officeDocument/2006/relationships/image" Target="../media/image17.png"/><Relationship Id="rId4" Type="http://schemas.openxmlformats.org/officeDocument/2006/relationships/hyperlink" Target="http://www.slideegg.com/" TargetMode="External"/><Relationship Id="rId9" Type="http://schemas.openxmlformats.org/officeDocument/2006/relationships/hyperlink" Target="https://www.youtube.com/channel/UCKevbriFTbpu-nd4NBafPEg" TargetMode="External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6">
            <a:extLst>
              <a:ext uri="{FF2B5EF4-FFF2-40B4-BE49-F238E27FC236}">
                <a16:creationId xmlns:a16="http://schemas.microsoft.com/office/drawing/2014/main" id="{B0C4C1A0-7902-D7BD-AF2C-3B75022D5237}"/>
              </a:ext>
            </a:extLst>
          </p:cNvPr>
          <p:cNvSpPr/>
          <p:nvPr/>
        </p:nvSpPr>
        <p:spPr>
          <a:xfrm>
            <a:off x="670562" y="782790"/>
            <a:ext cx="3048000" cy="3048000"/>
          </a:xfrm>
          <a:prstGeom prst="ellipse">
            <a:avLst/>
          </a:prstGeom>
          <a:solidFill>
            <a:srgbClr val="B03030">
              <a:alpha val="35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6B94FFBD-2B31-7CCF-279F-3AA9FAE114E0}"/>
              </a:ext>
            </a:extLst>
          </p:cNvPr>
          <p:cNvSpPr/>
          <p:nvPr/>
        </p:nvSpPr>
        <p:spPr>
          <a:xfrm>
            <a:off x="8961120" y="1406905"/>
            <a:ext cx="2194560" cy="219456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Shape 8"/>
          <p:cNvSpPr/>
          <p:nvPr/>
        </p:nvSpPr>
        <p:spPr>
          <a:xfrm>
            <a:off x="0" y="2"/>
            <a:ext cx="12192000" cy="19507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FA59AD7-C165-8B8F-1384-D6D513F81438}"/>
              </a:ext>
            </a:extLst>
          </p:cNvPr>
          <p:cNvSpPr/>
          <p:nvPr/>
        </p:nvSpPr>
        <p:spPr>
          <a:xfrm rot="16200000">
            <a:off x="1286307" y="5925869"/>
            <a:ext cx="1328829" cy="487680"/>
          </a:xfrm>
          <a:custGeom>
            <a:avLst/>
            <a:gdLst>
              <a:gd name="csX0" fmla="*/ 996622 w 996622"/>
              <a:gd name="csY0" fmla="*/ 301330 h 365760"/>
              <a:gd name="csX1" fmla="*/ 944139 w 996622"/>
              <a:gd name="csY1" fmla="*/ 320539 h 365760"/>
              <a:gd name="csX2" fmla="*/ 645033 w 996622"/>
              <a:gd name="csY2" fmla="*/ 365760 h 365760"/>
              <a:gd name="csX3" fmla="*/ 5225 w 996622"/>
              <a:gd name="csY3" fmla="*/ 136075 h 365760"/>
              <a:gd name="csX4" fmla="*/ 0 w 996622"/>
              <a:gd name="csY4" fmla="*/ 131326 h 365760"/>
              <a:gd name="csX5" fmla="*/ 0 w 996622"/>
              <a:gd name="csY5" fmla="*/ 40121 h 365760"/>
              <a:gd name="csX6" fmla="*/ 76561 w 996622"/>
              <a:gd name="csY6" fmla="*/ 20435 h 365760"/>
              <a:gd name="csX7" fmla="*/ 279273 w 996622"/>
              <a:gd name="csY7" fmla="*/ 0 h 365760"/>
              <a:gd name="csX8" fmla="*/ 990509 w 996622"/>
              <a:gd name="csY8" fmla="*/ 294604 h 365760"/>
              <a:gd name="csX9" fmla="*/ 996622 w 996622"/>
              <a:gd name="csY9" fmla="*/ 30133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96622" h="365760">
                <a:moveTo>
                  <a:pt x="996622" y="301330"/>
                </a:moveTo>
                <a:lnTo>
                  <a:pt x="944139" y="320539"/>
                </a:lnTo>
                <a:cubicBezTo>
                  <a:pt x="849652" y="349928"/>
                  <a:pt x="749191" y="365760"/>
                  <a:pt x="645033" y="365760"/>
                </a:cubicBezTo>
                <a:cubicBezTo>
                  <a:pt x="401998" y="365760"/>
                  <a:pt x="179094" y="279564"/>
                  <a:pt x="5225" y="136075"/>
                </a:cubicBezTo>
                <a:lnTo>
                  <a:pt x="0" y="131326"/>
                </a:lnTo>
                <a:lnTo>
                  <a:pt x="0" y="40121"/>
                </a:lnTo>
                <a:lnTo>
                  <a:pt x="76561" y="20435"/>
                </a:lnTo>
                <a:cubicBezTo>
                  <a:pt x="142039" y="7036"/>
                  <a:pt x="209834" y="0"/>
                  <a:pt x="279273" y="0"/>
                </a:cubicBezTo>
                <a:cubicBezTo>
                  <a:pt x="557028" y="0"/>
                  <a:pt x="808488" y="112583"/>
                  <a:pt x="990509" y="294604"/>
                </a:cubicBezTo>
                <a:lnTo>
                  <a:pt x="996622" y="301330"/>
                </a:ln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0DE6191-9F3C-FDCA-3DCB-A73680F9BD8A}"/>
              </a:ext>
            </a:extLst>
          </p:cNvPr>
          <p:cNvSpPr/>
          <p:nvPr/>
        </p:nvSpPr>
        <p:spPr>
          <a:xfrm rot="16200000">
            <a:off x="3480867" y="5925869"/>
            <a:ext cx="1328829" cy="487680"/>
          </a:xfrm>
          <a:custGeom>
            <a:avLst/>
            <a:gdLst>
              <a:gd name="csX0" fmla="*/ 996622 w 996622"/>
              <a:gd name="csY0" fmla="*/ 64430 h 365760"/>
              <a:gd name="csX1" fmla="*/ 990509 w 996622"/>
              <a:gd name="csY1" fmla="*/ 71156 h 365760"/>
              <a:gd name="csX2" fmla="*/ 279273 w 996622"/>
              <a:gd name="csY2" fmla="*/ 365760 h 365760"/>
              <a:gd name="csX3" fmla="*/ 76561 w 996622"/>
              <a:gd name="csY3" fmla="*/ 345325 h 365760"/>
              <a:gd name="csX4" fmla="*/ 0 w 996622"/>
              <a:gd name="csY4" fmla="*/ 325639 h 365760"/>
              <a:gd name="csX5" fmla="*/ 0 w 996622"/>
              <a:gd name="csY5" fmla="*/ 234434 h 365760"/>
              <a:gd name="csX6" fmla="*/ 5225 w 996622"/>
              <a:gd name="csY6" fmla="*/ 229685 h 365760"/>
              <a:gd name="csX7" fmla="*/ 645033 w 996622"/>
              <a:gd name="csY7" fmla="*/ 0 h 365760"/>
              <a:gd name="csX8" fmla="*/ 944139 w 996622"/>
              <a:gd name="csY8" fmla="*/ 45221 h 365760"/>
              <a:gd name="csX9" fmla="*/ 996622 w 996622"/>
              <a:gd name="csY9" fmla="*/ 6443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96622" h="365760">
                <a:moveTo>
                  <a:pt x="996622" y="64430"/>
                </a:moveTo>
                <a:lnTo>
                  <a:pt x="990509" y="71156"/>
                </a:lnTo>
                <a:cubicBezTo>
                  <a:pt x="808488" y="253178"/>
                  <a:pt x="557028" y="365760"/>
                  <a:pt x="279273" y="365760"/>
                </a:cubicBezTo>
                <a:cubicBezTo>
                  <a:pt x="209834" y="365760"/>
                  <a:pt x="142039" y="358724"/>
                  <a:pt x="76561" y="345325"/>
                </a:cubicBezTo>
                <a:lnTo>
                  <a:pt x="0" y="325639"/>
                </a:lnTo>
                <a:lnTo>
                  <a:pt x="0" y="234434"/>
                </a:lnTo>
                <a:lnTo>
                  <a:pt x="5225" y="229685"/>
                </a:lnTo>
                <a:cubicBezTo>
                  <a:pt x="179094" y="86196"/>
                  <a:pt x="401998" y="0"/>
                  <a:pt x="645033" y="0"/>
                </a:cubicBezTo>
                <a:cubicBezTo>
                  <a:pt x="749191" y="0"/>
                  <a:pt x="849652" y="15832"/>
                  <a:pt x="944139" y="45221"/>
                </a:cubicBezTo>
                <a:lnTo>
                  <a:pt x="996622" y="64430"/>
                </a:ln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DAE613A-C60D-C7CF-C418-4FAB3961BC01}"/>
              </a:ext>
            </a:extLst>
          </p:cNvPr>
          <p:cNvSpPr/>
          <p:nvPr/>
        </p:nvSpPr>
        <p:spPr>
          <a:xfrm rot="16200000">
            <a:off x="5675427" y="5925869"/>
            <a:ext cx="1328829" cy="487680"/>
          </a:xfrm>
          <a:custGeom>
            <a:avLst/>
            <a:gdLst>
              <a:gd name="csX0" fmla="*/ 996622 w 996622"/>
              <a:gd name="csY0" fmla="*/ 301330 h 365760"/>
              <a:gd name="csX1" fmla="*/ 944139 w 996622"/>
              <a:gd name="csY1" fmla="*/ 320539 h 365760"/>
              <a:gd name="csX2" fmla="*/ 645033 w 996622"/>
              <a:gd name="csY2" fmla="*/ 365760 h 365760"/>
              <a:gd name="csX3" fmla="*/ 5225 w 996622"/>
              <a:gd name="csY3" fmla="*/ 136075 h 365760"/>
              <a:gd name="csX4" fmla="*/ 0 w 996622"/>
              <a:gd name="csY4" fmla="*/ 131326 h 365760"/>
              <a:gd name="csX5" fmla="*/ 0 w 996622"/>
              <a:gd name="csY5" fmla="*/ 40122 h 365760"/>
              <a:gd name="csX6" fmla="*/ 76561 w 996622"/>
              <a:gd name="csY6" fmla="*/ 20435 h 365760"/>
              <a:gd name="csX7" fmla="*/ 279273 w 996622"/>
              <a:gd name="csY7" fmla="*/ 0 h 365760"/>
              <a:gd name="csX8" fmla="*/ 990509 w 996622"/>
              <a:gd name="csY8" fmla="*/ 294604 h 365760"/>
              <a:gd name="csX9" fmla="*/ 996622 w 996622"/>
              <a:gd name="csY9" fmla="*/ 30133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96622" h="365760">
                <a:moveTo>
                  <a:pt x="996622" y="301330"/>
                </a:moveTo>
                <a:lnTo>
                  <a:pt x="944139" y="320539"/>
                </a:lnTo>
                <a:cubicBezTo>
                  <a:pt x="849652" y="349928"/>
                  <a:pt x="749191" y="365760"/>
                  <a:pt x="645033" y="365760"/>
                </a:cubicBezTo>
                <a:cubicBezTo>
                  <a:pt x="401998" y="365760"/>
                  <a:pt x="179094" y="279564"/>
                  <a:pt x="5225" y="136075"/>
                </a:cubicBezTo>
                <a:lnTo>
                  <a:pt x="0" y="131326"/>
                </a:lnTo>
                <a:lnTo>
                  <a:pt x="0" y="40122"/>
                </a:lnTo>
                <a:lnTo>
                  <a:pt x="76561" y="20435"/>
                </a:lnTo>
                <a:cubicBezTo>
                  <a:pt x="142039" y="7037"/>
                  <a:pt x="209834" y="0"/>
                  <a:pt x="279273" y="0"/>
                </a:cubicBezTo>
                <a:cubicBezTo>
                  <a:pt x="557028" y="0"/>
                  <a:pt x="808488" y="112583"/>
                  <a:pt x="990509" y="294604"/>
                </a:cubicBezTo>
                <a:lnTo>
                  <a:pt x="996622" y="301330"/>
                </a:ln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1785006-A97B-6698-CB5E-EC3E066E50C6}"/>
              </a:ext>
            </a:extLst>
          </p:cNvPr>
          <p:cNvSpPr/>
          <p:nvPr/>
        </p:nvSpPr>
        <p:spPr>
          <a:xfrm rot="16200000">
            <a:off x="7869987" y="5925869"/>
            <a:ext cx="1328829" cy="487680"/>
          </a:xfrm>
          <a:custGeom>
            <a:avLst/>
            <a:gdLst>
              <a:gd name="csX0" fmla="*/ 996622 w 996622"/>
              <a:gd name="csY0" fmla="*/ 64430 h 365760"/>
              <a:gd name="csX1" fmla="*/ 990509 w 996622"/>
              <a:gd name="csY1" fmla="*/ 71156 h 365760"/>
              <a:gd name="csX2" fmla="*/ 279273 w 996622"/>
              <a:gd name="csY2" fmla="*/ 365760 h 365760"/>
              <a:gd name="csX3" fmla="*/ 76561 w 996622"/>
              <a:gd name="csY3" fmla="*/ 345325 h 365760"/>
              <a:gd name="csX4" fmla="*/ 0 w 996622"/>
              <a:gd name="csY4" fmla="*/ 325639 h 365760"/>
              <a:gd name="csX5" fmla="*/ 0 w 996622"/>
              <a:gd name="csY5" fmla="*/ 234434 h 365760"/>
              <a:gd name="csX6" fmla="*/ 5225 w 996622"/>
              <a:gd name="csY6" fmla="*/ 229685 h 365760"/>
              <a:gd name="csX7" fmla="*/ 645033 w 996622"/>
              <a:gd name="csY7" fmla="*/ 0 h 365760"/>
              <a:gd name="csX8" fmla="*/ 944139 w 996622"/>
              <a:gd name="csY8" fmla="*/ 45221 h 365760"/>
              <a:gd name="csX9" fmla="*/ 996622 w 996622"/>
              <a:gd name="csY9" fmla="*/ 6443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96622" h="365760">
                <a:moveTo>
                  <a:pt x="996622" y="64430"/>
                </a:moveTo>
                <a:lnTo>
                  <a:pt x="990509" y="71156"/>
                </a:lnTo>
                <a:cubicBezTo>
                  <a:pt x="808488" y="253178"/>
                  <a:pt x="557028" y="365760"/>
                  <a:pt x="279273" y="365760"/>
                </a:cubicBezTo>
                <a:cubicBezTo>
                  <a:pt x="209834" y="365760"/>
                  <a:pt x="142039" y="358724"/>
                  <a:pt x="76561" y="345325"/>
                </a:cubicBezTo>
                <a:lnTo>
                  <a:pt x="0" y="325639"/>
                </a:lnTo>
                <a:lnTo>
                  <a:pt x="0" y="234434"/>
                </a:lnTo>
                <a:lnTo>
                  <a:pt x="5225" y="229685"/>
                </a:lnTo>
                <a:cubicBezTo>
                  <a:pt x="179094" y="86196"/>
                  <a:pt x="401998" y="0"/>
                  <a:pt x="645033" y="0"/>
                </a:cubicBezTo>
                <a:cubicBezTo>
                  <a:pt x="749191" y="0"/>
                  <a:pt x="849652" y="15832"/>
                  <a:pt x="944139" y="45221"/>
                </a:cubicBezTo>
                <a:lnTo>
                  <a:pt x="996622" y="64430"/>
                </a:ln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90F0283-E3F2-2885-88AA-E3CC70826FE9}"/>
              </a:ext>
            </a:extLst>
          </p:cNvPr>
          <p:cNvSpPr/>
          <p:nvPr/>
        </p:nvSpPr>
        <p:spPr>
          <a:xfrm rot="16200000">
            <a:off x="10064547" y="5925869"/>
            <a:ext cx="1328829" cy="487680"/>
          </a:xfrm>
          <a:custGeom>
            <a:avLst/>
            <a:gdLst>
              <a:gd name="csX0" fmla="*/ 996622 w 996622"/>
              <a:gd name="csY0" fmla="*/ 301330 h 365760"/>
              <a:gd name="csX1" fmla="*/ 944139 w 996622"/>
              <a:gd name="csY1" fmla="*/ 320539 h 365760"/>
              <a:gd name="csX2" fmla="*/ 645033 w 996622"/>
              <a:gd name="csY2" fmla="*/ 365760 h 365760"/>
              <a:gd name="csX3" fmla="*/ 5225 w 996622"/>
              <a:gd name="csY3" fmla="*/ 136075 h 365760"/>
              <a:gd name="csX4" fmla="*/ 0 w 996622"/>
              <a:gd name="csY4" fmla="*/ 131326 h 365760"/>
              <a:gd name="csX5" fmla="*/ 0 w 996622"/>
              <a:gd name="csY5" fmla="*/ 40122 h 365760"/>
              <a:gd name="csX6" fmla="*/ 76561 w 996622"/>
              <a:gd name="csY6" fmla="*/ 20435 h 365760"/>
              <a:gd name="csX7" fmla="*/ 279273 w 996622"/>
              <a:gd name="csY7" fmla="*/ 0 h 365760"/>
              <a:gd name="csX8" fmla="*/ 990509 w 996622"/>
              <a:gd name="csY8" fmla="*/ 294604 h 365760"/>
              <a:gd name="csX9" fmla="*/ 996622 w 996622"/>
              <a:gd name="csY9" fmla="*/ 30133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96622" h="365760">
                <a:moveTo>
                  <a:pt x="996622" y="301330"/>
                </a:moveTo>
                <a:lnTo>
                  <a:pt x="944139" y="320539"/>
                </a:lnTo>
                <a:cubicBezTo>
                  <a:pt x="849651" y="349928"/>
                  <a:pt x="749191" y="365760"/>
                  <a:pt x="645033" y="365760"/>
                </a:cubicBezTo>
                <a:cubicBezTo>
                  <a:pt x="401997" y="365760"/>
                  <a:pt x="179094" y="279564"/>
                  <a:pt x="5225" y="136075"/>
                </a:cubicBezTo>
                <a:lnTo>
                  <a:pt x="0" y="131326"/>
                </a:lnTo>
                <a:lnTo>
                  <a:pt x="0" y="40122"/>
                </a:lnTo>
                <a:lnTo>
                  <a:pt x="76561" y="20435"/>
                </a:lnTo>
                <a:cubicBezTo>
                  <a:pt x="142039" y="7037"/>
                  <a:pt x="209834" y="0"/>
                  <a:pt x="279273" y="0"/>
                </a:cubicBezTo>
                <a:cubicBezTo>
                  <a:pt x="557028" y="0"/>
                  <a:pt x="808488" y="112583"/>
                  <a:pt x="990509" y="294604"/>
                </a:cubicBezTo>
                <a:lnTo>
                  <a:pt x="996622" y="301330"/>
                </a:ln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B03F760-B504-7003-7673-2648B14165CE}"/>
              </a:ext>
            </a:extLst>
          </p:cNvPr>
          <p:cNvSpPr/>
          <p:nvPr/>
        </p:nvSpPr>
        <p:spPr>
          <a:xfrm rot="16200000">
            <a:off x="-46254" y="4679216"/>
            <a:ext cx="2201164" cy="2108653"/>
          </a:xfrm>
          <a:custGeom>
            <a:avLst/>
            <a:gdLst>
              <a:gd name="csX0" fmla="*/ 1650873 w 1650873"/>
              <a:gd name="csY0" fmla="*/ 640080 h 1581490"/>
              <a:gd name="csX1" fmla="*/ 1036551 w 1650873"/>
              <a:gd name="csY1" fmla="*/ 1566876 h 1581490"/>
              <a:gd name="csX2" fmla="*/ 996622 w 1650873"/>
              <a:gd name="csY2" fmla="*/ 1581490 h 1581490"/>
              <a:gd name="csX3" fmla="*/ 990509 w 1650873"/>
              <a:gd name="csY3" fmla="*/ 1574764 h 1581490"/>
              <a:gd name="csX4" fmla="*/ 279273 w 1650873"/>
              <a:gd name="csY4" fmla="*/ 1280160 h 1581490"/>
              <a:gd name="csX5" fmla="*/ 76561 w 1650873"/>
              <a:gd name="csY5" fmla="*/ 1300595 h 1581490"/>
              <a:gd name="csX6" fmla="*/ 0 w 1650873"/>
              <a:gd name="csY6" fmla="*/ 1320281 h 1581490"/>
              <a:gd name="csX7" fmla="*/ 0 w 1650873"/>
              <a:gd name="csY7" fmla="*/ 0 h 1581490"/>
              <a:gd name="csX8" fmla="*/ 1420941 w 1650873"/>
              <a:gd name="csY8" fmla="*/ 0 h 1581490"/>
              <a:gd name="csX9" fmla="*/ 1421188 w 1650873"/>
              <a:gd name="csY9" fmla="*/ 272 h 1581490"/>
              <a:gd name="csX10" fmla="*/ 1650873 w 1650873"/>
              <a:gd name="csY10" fmla="*/ 640080 h 1581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50873" h="1581490">
                <a:moveTo>
                  <a:pt x="1650873" y="640080"/>
                </a:moveTo>
                <a:cubicBezTo>
                  <a:pt x="1650873" y="1056713"/>
                  <a:pt x="1397563" y="1414181"/>
                  <a:pt x="1036551" y="1566876"/>
                </a:cubicBezTo>
                <a:lnTo>
                  <a:pt x="996622" y="1581490"/>
                </a:lnTo>
                <a:lnTo>
                  <a:pt x="990509" y="1574764"/>
                </a:lnTo>
                <a:cubicBezTo>
                  <a:pt x="808488" y="1392743"/>
                  <a:pt x="557028" y="1280160"/>
                  <a:pt x="279273" y="1280160"/>
                </a:cubicBezTo>
                <a:cubicBezTo>
                  <a:pt x="209834" y="1280160"/>
                  <a:pt x="142039" y="1287196"/>
                  <a:pt x="76561" y="1300595"/>
                </a:cubicBezTo>
                <a:lnTo>
                  <a:pt x="0" y="1320281"/>
                </a:lnTo>
                <a:lnTo>
                  <a:pt x="0" y="0"/>
                </a:lnTo>
                <a:lnTo>
                  <a:pt x="1420941" y="0"/>
                </a:lnTo>
                <a:lnTo>
                  <a:pt x="1421188" y="272"/>
                </a:lnTo>
                <a:cubicBezTo>
                  <a:pt x="1564677" y="174141"/>
                  <a:pt x="1650873" y="397044"/>
                  <a:pt x="1650873" y="640080"/>
                </a:cubicBez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8AA16BC-3FA0-A35B-0215-122728CF855D}"/>
              </a:ext>
            </a:extLst>
          </p:cNvPr>
          <p:cNvSpPr/>
          <p:nvPr/>
        </p:nvSpPr>
        <p:spPr>
          <a:xfrm rot="16200000">
            <a:off x="4141979" y="4478329"/>
            <a:ext cx="2201164" cy="2510427"/>
          </a:xfrm>
          <a:custGeom>
            <a:avLst/>
            <a:gdLst>
              <a:gd name="csX0" fmla="*/ 1650873 w 1650873"/>
              <a:gd name="csY0" fmla="*/ 941410 h 1882820"/>
              <a:gd name="csX1" fmla="*/ 1036551 w 1650873"/>
              <a:gd name="csY1" fmla="*/ 1868206 h 1882820"/>
              <a:gd name="csX2" fmla="*/ 996622 w 1650873"/>
              <a:gd name="csY2" fmla="*/ 1882820 h 1882820"/>
              <a:gd name="csX3" fmla="*/ 990509 w 1650873"/>
              <a:gd name="csY3" fmla="*/ 1876094 h 1882820"/>
              <a:gd name="csX4" fmla="*/ 279273 w 1650873"/>
              <a:gd name="csY4" fmla="*/ 1581490 h 1882820"/>
              <a:gd name="csX5" fmla="*/ 76561 w 1650873"/>
              <a:gd name="csY5" fmla="*/ 1601925 h 1882820"/>
              <a:gd name="csX6" fmla="*/ 0 w 1650873"/>
              <a:gd name="csY6" fmla="*/ 1621612 h 1882820"/>
              <a:gd name="csX7" fmla="*/ 0 w 1650873"/>
              <a:gd name="csY7" fmla="*/ 261209 h 1882820"/>
              <a:gd name="csX8" fmla="*/ 76561 w 1650873"/>
              <a:gd name="csY8" fmla="*/ 280895 h 1882820"/>
              <a:gd name="csX9" fmla="*/ 279273 w 1650873"/>
              <a:gd name="csY9" fmla="*/ 301330 h 1882820"/>
              <a:gd name="csX10" fmla="*/ 990509 w 1650873"/>
              <a:gd name="csY10" fmla="*/ 6726 h 1882820"/>
              <a:gd name="csX11" fmla="*/ 996622 w 1650873"/>
              <a:gd name="csY11" fmla="*/ 0 h 1882820"/>
              <a:gd name="csX12" fmla="*/ 1036551 w 1650873"/>
              <a:gd name="csY12" fmla="*/ 14614 h 1882820"/>
              <a:gd name="csX13" fmla="*/ 1650873 w 1650873"/>
              <a:gd name="csY13" fmla="*/ 941410 h 1882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50873" h="1882820">
                <a:moveTo>
                  <a:pt x="1650873" y="941410"/>
                </a:moveTo>
                <a:cubicBezTo>
                  <a:pt x="1650873" y="1358043"/>
                  <a:pt x="1397563" y="1715511"/>
                  <a:pt x="1036551" y="1868206"/>
                </a:cubicBezTo>
                <a:lnTo>
                  <a:pt x="996622" y="1882820"/>
                </a:lnTo>
                <a:lnTo>
                  <a:pt x="990509" y="1876094"/>
                </a:lnTo>
                <a:cubicBezTo>
                  <a:pt x="808488" y="1694073"/>
                  <a:pt x="557028" y="1581490"/>
                  <a:pt x="279273" y="1581490"/>
                </a:cubicBezTo>
                <a:cubicBezTo>
                  <a:pt x="209834" y="1581490"/>
                  <a:pt x="142039" y="1588527"/>
                  <a:pt x="76561" y="1601925"/>
                </a:cubicBezTo>
                <a:lnTo>
                  <a:pt x="0" y="1621612"/>
                </a:lnTo>
                <a:lnTo>
                  <a:pt x="0" y="261209"/>
                </a:lnTo>
                <a:lnTo>
                  <a:pt x="76561" y="280895"/>
                </a:lnTo>
                <a:cubicBezTo>
                  <a:pt x="142039" y="294294"/>
                  <a:pt x="209834" y="301330"/>
                  <a:pt x="279273" y="301330"/>
                </a:cubicBezTo>
                <a:cubicBezTo>
                  <a:pt x="557028" y="301330"/>
                  <a:pt x="808488" y="188748"/>
                  <a:pt x="990509" y="6726"/>
                </a:cubicBezTo>
                <a:lnTo>
                  <a:pt x="996622" y="0"/>
                </a:lnTo>
                <a:lnTo>
                  <a:pt x="1036551" y="14614"/>
                </a:lnTo>
                <a:cubicBezTo>
                  <a:pt x="1397563" y="167309"/>
                  <a:pt x="1650873" y="524778"/>
                  <a:pt x="1650873" y="941410"/>
                </a:cubicBez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AE8C731-67A1-9252-3F44-A9A035F154F2}"/>
              </a:ext>
            </a:extLst>
          </p:cNvPr>
          <p:cNvSpPr/>
          <p:nvPr/>
        </p:nvSpPr>
        <p:spPr>
          <a:xfrm rot="16200000">
            <a:off x="2191259" y="4811364"/>
            <a:ext cx="1713484" cy="2332037"/>
          </a:xfrm>
          <a:custGeom>
            <a:avLst/>
            <a:gdLst>
              <a:gd name="csX0" fmla="*/ 1285113 w 1285113"/>
              <a:gd name="csY0" fmla="*/ 874514 h 1749028"/>
              <a:gd name="csX1" fmla="*/ 1055428 w 1285113"/>
              <a:gd name="csY1" fmla="*/ 1514322 h 1749028"/>
              <a:gd name="csX2" fmla="*/ 996622 w 1285113"/>
              <a:gd name="csY2" fmla="*/ 1579024 h 1749028"/>
              <a:gd name="csX3" fmla="*/ 944139 w 1285113"/>
              <a:gd name="csY3" fmla="*/ 1559815 h 1749028"/>
              <a:gd name="csX4" fmla="*/ 645033 w 1285113"/>
              <a:gd name="csY4" fmla="*/ 1514594 h 1749028"/>
              <a:gd name="csX5" fmla="*/ 5225 w 1285113"/>
              <a:gd name="csY5" fmla="*/ 1744279 h 1749028"/>
              <a:gd name="csX6" fmla="*/ 0 w 1285113"/>
              <a:gd name="csY6" fmla="*/ 1749028 h 1749028"/>
              <a:gd name="csX7" fmla="*/ 0 w 1285113"/>
              <a:gd name="csY7" fmla="*/ 0 h 1749028"/>
              <a:gd name="csX8" fmla="*/ 5225 w 1285113"/>
              <a:gd name="csY8" fmla="*/ 4749 h 1749028"/>
              <a:gd name="csX9" fmla="*/ 645033 w 1285113"/>
              <a:gd name="csY9" fmla="*/ 234434 h 1749028"/>
              <a:gd name="csX10" fmla="*/ 944139 w 1285113"/>
              <a:gd name="csY10" fmla="*/ 189213 h 1749028"/>
              <a:gd name="csX11" fmla="*/ 996622 w 1285113"/>
              <a:gd name="csY11" fmla="*/ 170004 h 1749028"/>
              <a:gd name="csX12" fmla="*/ 1055428 w 1285113"/>
              <a:gd name="csY12" fmla="*/ 234706 h 1749028"/>
              <a:gd name="csX13" fmla="*/ 1285113 w 1285113"/>
              <a:gd name="csY13" fmla="*/ 874514 h 1749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85113" h="1749028">
                <a:moveTo>
                  <a:pt x="1285113" y="874514"/>
                </a:moveTo>
                <a:cubicBezTo>
                  <a:pt x="1285113" y="1117550"/>
                  <a:pt x="1198917" y="1340453"/>
                  <a:pt x="1055428" y="1514322"/>
                </a:cubicBezTo>
                <a:lnTo>
                  <a:pt x="996622" y="1579024"/>
                </a:lnTo>
                <a:lnTo>
                  <a:pt x="944139" y="1559815"/>
                </a:lnTo>
                <a:cubicBezTo>
                  <a:pt x="849652" y="1530426"/>
                  <a:pt x="749191" y="1514594"/>
                  <a:pt x="645033" y="1514594"/>
                </a:cubicBezTo>
                <a:cubicBezTo>
                  <a:pt x="401998" y="1514594"/>
                  <a:pt x="179094" y="1600790"/>
                  <a:pt x="5225" y="1744279"/>
                </a:cubicBezTo>
                <a:lnTo>
                  <a:pt x="0" y="1749028"/>
                </a:lnTo>
                <a:lnTo>
                  <a:pt x="0" y="0"/>
                </a:lnTo>
                <a:lnTo>
                  <a:pt x="5225" y="4749"/>
                </a:lnTo>
                <a:cubicBezTo>
                  <a:pt x="179094" y="148238"/>
                  <a:pt x="401998" y="234434"/>
                  <a:pt x="645033" y="234434"/>
                </a:cubicBezTo>
                <a:cubicBezTo>
                  <a:pt x="749191" y="234434"/>
                  <a:pt x="849652" y="218602"/>
                  <a:pt x="944139" y="189213"/>
                </a:cubicBezTo>
                <a:lnTo>
                  <a:pt x="996622" y="170004"/>
                </a:lnTo>
                <a:lnTo>
                  <a:pt x="1055428" y="234706"/>
                </a:lnTo>
                <a:cubicBezTo>
                  <a:pt x="1198917" y="408575"/>
                  <a:pt x="1285113" y="631478"/>
                  <a:pt x="1285113" y="874514"/>
                </a:cubicBez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1DCBD61-80BC-B0AF-DD58-CF6177A0B4AD}"/>
              </a:ext>
            </a:extLst>
          </p:cNvPr>
          <p:cNvSpPr/>
          <p:nvPr/>
        </p:nvSpPr>
        <p:spPr>
          <a:xfrm rot="16200000">
            <a:off x="6580380" y="4919089"/>
            <a:ext cx="1713484" cy="2332037"/>
          </a:xfrm>
          <a:custGeom>
            <a:avLst/>
            <a:gdLst>
              <a:gd name="csX0" fmla="*/ 1285113 w 1285113"/>
              <a:gd name="csY0" fmla="*/ 874514 h 1749028"/>
              <a:gd name="csX1" fmla="*/ 1055428 w 1285113"/>
              <a:gd name="csY1" fmla="*/ 1514322 h 1749028"/>
              <a:gd name="csX2" fmla="*/ 996622 w 1285113"/>
              <a:gd name="csY2" fmla="*/ 1579024 h 1749028"/>
              <a:gd name="csX3" fmla="*/ 944139 w 1285113"/>
              <a:gd name="csY3" fmla="*/ 1559815 h 1749028"/>
              <a:gd name="csX4" fmla="*/ 645033 w 1285113"/>
              <a:gd name="csY4" fmla="*/ 1514594 h 1749028"/>
              <a:gd name="csX5" fmla="*/ 5225 w 1285113"/>
              <a:gd name="csY5" fmla="*/ 1744279 h 1749028"/>
              <a:gd name="csX6" fmla="*/ 0 w 1285113"/>
              <a:gd name="csY6" fmla="*/ 1749028 h 1749028"/>
              <a:gd name="csX7" fmla="*/ 0 w 1285113"/>
              <a:gd name="csY7" fmla="*/ 0 h 1749028"/>
              <a:gd name="csX8" fmla="*/ 5225 w 1285113"/>
              <a:gd name="csY8" fmla="*/ 4749 h 1749028"/>
              <a:gd name="csX9" fmla="*/ 645033 w 1285113"/>
              <a:gd name="csY9" fmla="*/ 234434 h 1749028"/>
              <a:gd name="csX10" fmla="*/ 944139 w 1285113"/>
              <a:gd name="csY10" fmla="*/ 189213 h 1749028"/>
              <a:gd name="csX11" fmla="*/ 996622 w 1285113"/>
              <a:gd name="csY11" fmla="*/ 170004 h 1749028"/>
              <a:gd name="csX12" fmla="*/ 1055428 w 1285113"/>
              <a:gd name="csY12" fmla="*/ 234706 h 1749028"/>
              <a:gd name="csX13" fmla="*/ 1285113 w 1285113"/>
              <a:gd name="csY13" fmla="*/ 874514 h 1749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85113" h="1749028">
                <a:moveTo>
                  <a:pt x="1285113" y="874514"/>
                </a:moveTo>
                <a:cubicBezTo>
                  <a:pt x="1285113" y="1117550"/>
                  <a:pt x="1198917" y="1340453"/>
                  <a:pt x="1055428" y="1514322"/>
                </a:cubicBezTo>
                <a:lnTo>
                  <a:pt x="996622" y="1579024"/>
                </a:lnTo>
                <a:lnTo>
                  <a:pt x="944139" y="1559815"/>
                </a:lnTo>
                <a:cubicBezTo>
                  <a:pt x="849652" y="1530426"/>
                  <a:pt x="749191" y="1514594"/>
                  <a:pt x="645033" y="1514594"/>
                </a:cubicBezTo>
                <a:cubicBezTo>
                  <a:pt x="401998" y="1514594"/>
                  <a:pt x="179094" y="1600790"/>
                  <a:pt x="5225" y="1744279"/>
                </a:cubicBezTo>
                <a:lnTo>
                  <a:pt x="0" y="1749028"/>
                </a:lnTo>
                <a:lnTo>
                  <a:pt x="0" y="0"/>
                </a:lnTo>
                <a:lnTo>
                  <a:pt x="5225" y="4749"/>
                </a:lnTo>
                <a:cubicBezTo>
                  <a:pt x="179094" y="148238"/>
                  <a:pt x="401998" y="234434"/>
                  <a:pt x="645033" y="234434"/>
                </a:cubicBezTo>
                <a:cubicBezTo>
                  <a:pt x="749191" y="234434"/>
                  <a:pt x="849652" y="218602"/>
                  <a:pt x="944139" y="189213"/>
                </a:cubicBezTo>
                <a:lnTo>
                  <a:pt x="996622" y="170004"/>
                </a:lnTo>
                <a:lnTo>
                  <a:pt x="1055428" y="234706"/>
                </a:lnTo>
                <a:cubicBezTo>
                  <a:pt x="1198917" y="408575"/>
                  <a:pt x="1285113" y="631479"/>
                  <a:pt x="1285113" y="874514"/>
                </a:cubicBez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C6EBF4-1AD6-36C0-C5AF-5F83701DC5F8}"/>
              </a:ext>
            </a:extLst>
          </p:cNvPr>
          <p:cNvSpPr/>
          <p:nvPr/>
        </p:nvSpPr>
        <p:spPr>
          <a:xfrm>
            <a:off x="10660225" y="5120643"/>
            <a:ext cx="1531777" cy="1713484"/>
          </a:xfrm>
          <a:custGeom>
            <a:avLst/>
            <a:gdLst>
              <a:gd name="csX0" fmla="*/ 874513 w 1148833"/>
              <a:gd name="csY0" fmla="*/ 0 h 1285113"/>
              <a:gd name="csX1" fmla="*/ 1077225 w 1148833"/>
              <a:gd name="csY1" fmla="*/ 20435 h 1285113"/>
              <a:gd name="csX2" fmla="*/ 1148833 w 1148833"/>
              <a:gd name="csY2" fmla="*/ 38848 h 1285113"/>
              <a:gd name="csX3" fmla="*/ 1148833 w 1148833"/>
              <a:gd name="csY3" fmla="*/ 1285113 h 1285113"/>
              <a:gd name="csX4" fmla="*/ 0 w 1148833"/>
              <a:gd name="csY4" fmla="*/ 1285113 h 1285113"/>
              <a:gd name="csX5" fmla="*/ 4749 w 1148833"/>
              <a:gd name="csY5" fmla="*/ 1279888 h 1285113"/>
              <a:gd name="csX6" fmla="*/ 234434 w 1148833"/>
              <a:gd name="csY6" fmla="*/ 640080 h 1285113"/>
              <a:gd name="csX7" fmla="*/ 189213 w 1148833"/>
              <a:gd name="csY7" fmla="*/ 340974 h 1285113"/>
              <a:gd name="csX8" fmla="*/ 170004 w 1148833"/>
              <a:gd name="csY8" fmla="*/ 288491 h 1285113"/>
              <a:gd name="csX9" fmla="*/ 234706 w 1148833"/>
              <a:gd name="csY9" fmla="*/ 229685 h 1285113"/>
              <a:gd name="csX10" fmla="*/ 874513 w 1148833"/>
              <a:gd name="csY10" fmla="*/ 0 h 1285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48833" h="1285113">
                <a:moveTo>
                  <a:pt x="874513" y="0"/>
                </a:moveTo>
                <a:cubicBezTo>
                  <a:pt x="943952" y="0"/>
                  <a:pt x="1011747" y="7037"/>
                  <a:pt x="1077225" y="20435"/>
                </a:cubicBezTo>
                <a:lnTo>
                  <a:pt x="1148833" y="38848"/>
                </a:lnTo>
                <a:lnTo>
                  <a:pt x="1148833" y="1285113"/>
                </a:lnTo>
                <a:lnTo>
                  <a:pt x="0" y="1285113"/>
                </a:lnTo>
                <a:lnTo>
                  <a:pt x="4749" y="1279888"/>
                </a:lnTo>
                <a:cubicBezTo>
                  <a:pt x="148238" y="1106019"/>
                  <a:pt x="234434" y="883116"/>
                  <a:pt x="234434" y="640080"/>
                </a:cubicBezTo>
                <a:cubicBezTo>
                  <a:pt x="234434" y="535922"/>
                  <a:pt x="218602" y="435462"/>
                  <a:pt x="189213" y="340974"/>
                </a:cubicBezTo>
                <a:lnTo>
                  <a:pt x="170004" y="288491"/>
                </a:lnTo>
                <a:lnTo>
                  <a:pt x="234706" y="229685"/>
                </a:lnTo>
                <a:cubicBezTo>
                  <a:pt x="408575" y="86196"/>
                  <a:pt x="631477" y="0"/>
                  <a:pt x="874513" y="0"/>
                </a:cubicBezTo>
                <a:close/>
              </a:path>
            </a:pathLst>
          </a:custGeom>
          <a:solidFill>
            <a:srgbClr val="1A2B4A">
              <a:alpha val="45000"/>
            </a:srgbClr>
          </a:solidFill>
          <a:ln w="12700">
            <a:solidFill>
              <a:srgbClr val="1A2B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AE0F78-99BC-13A7-B2CE-8CDA0CAA25DC}"/>
              </a:ext>
            </a:extLst>
          </p:cNvPr>
          <p:cNvGrpSpPr/>
          <p:nvPr/>
        </p:nvGrpSpPr>
        <p:grpSpPr>
          <a:xfrm>
            <a:off x="-232840" y="1311845"/>
            <a:ext cx="12657680" cy="3946553"/>
            <a:chOff x="274320" y="886203"/>
            <a:chExt cx="8595360" cy="2679957"/>
          </a:xfrm>
        </p:grpSpPr>
        <p:sp>
          <p:nvSpPr>
            <p:cNvPr id="11" name="Text 10"/>
            <p:cNvSpPr/>
            <p:nvPr/>
          </p:nvSpPr>
          <p:spPr>
            <a:xfrm>
              <a:off x="914400" y="886203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667" kern="0" dirty="0">
                  <a:solidFill>
                    <a:srgbClr val="C8862A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Die </a:t>
              </a:r>
              <a:r>
                <a:rPr lang="en-US" sz="2667" kern="0" dirty="0" err="1">
                  <a:solidFill>
                    <a:srgbClr val="C8862A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Geschichte</a:t>
              </a:r>
              <a:r>
                <a:rPr lang="en-US" sz="2667" kern="0" dirty="0">
                  <a:solidFill>
                    <a:srgbClr val="C8862A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 der</a:t>
              </a:r>
              <a:endParaRPr lang="en-US" sz="2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 11"/>
            <p:cNvSpPr/>
            <p:nvPr/>
          </p:nvSpPr>
          <p:spPr>
            <a:xfrm>
              <a:off x="274320" y="1188720"/>
              <a:ext cx="8595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533" b="1" dirty="0">
                  <a:solidFill>
                    <a:srgbClr val="FFFFFF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FOTOGRAFIE</a:t>
              </a:r>
              <a:endParaRPr lang="en-US" sz="8533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12"/>
            <p:cNvSpPr/>
            <p:nvPr/>
          </p:nvSpPr>
          <p:spPr>
            <a:xfrm>
              <a:off x="914400" y="2427899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endParaRPr lang="en-US" sz="20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Shape 13"/>
            <p:cNvSpPr/>
            <p:nvPr/>
          </p:nvSpPr>
          <p:spPr>
            <a:xfrm>
              <a:off x="2743200" y="3127248"/>
              <a:ext cx="3657600" cy="45720"/>
            </a:xfrm>
            <a:prstGeom prst="rect">
              <a:avLst/>
            </a:prstGeom>
            <a:solidFill>
              <a:srgbClr val="C8862A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3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14"/>
            <p:cNvSpPr/>
            <p:nvPr/>
          </p:nvSpPr>
          <p:spPr>
            <a:xfrm>
              <a:off x="914400" y="3246120"/>
              <a:ext cx="7315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endParaRPr lang="en-US" sz="1733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15"/>
            <p:cNvSpPr/>
            <p:nvPr/>
          </p:nvSpPr>
          <p:spPr>
            <a:xfrm>
              <a:off x="815050" y="2448828"/>
              <a:ext cx="7315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733" dirty="0">
                  <a:solidFill>
                    <a:srgbClr val="8BA0B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Jurek Aita  -  Fotis </a:t>
              </a:r>
              <a:r>
                <a:rPr lang="en-US" sz="1733" dirty="0" err="1">
                  <a:solidFill>
                    <a:srgbClr val="8BA0B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Mertzanidis</a:t>
              </a:r>
              <a:r>
                <a:rPr lang="en-US" sz="1733" dirty="0">
                  <a:solidFill>
                    <a:srgbClr val="8BA0B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 -  Maximilian Glomb</a:t>
              </a:r>
              <a:endParaRPr lang="en-US" sz="1733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Gliederung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979B2F0-E3F5-AB97-D29F-B10028BB407A}"/>
              </a:ext>
            </a:extLst>
          </p:cNvPr>
          <p:cNvGrpSpPr/>
          <p:nvPr/>
        </p:nvGrpSpPr>
        <p:grpSpPr>
          <a:xfrm>
            <a:off x="487680" y="1402080"/>
            <a:ext cx="11216640" cy="4572000"/>
            <a:chOff x="365760" y="1051560"/>
            <a:chExt cx="8412480" cy="3429000"/>
          </a:xfrm>
        </p:grpSpPr>
        <p:sp>
          <p:nvSpPr>
            <p:cNvPr id="4" name="Shape 2"/>
            <p:cNvSpPr/>
            <p:nvPr/>
          </p:nvSpPr>
          <p:spPr>
            <a:xfrm>
              <a:off x="365760" y="1051560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365760" y="1051560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1179576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01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1179576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Background &amp; World War II Context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365760" y="1764792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65760" y="1764792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65760" y="1892808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02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914400" y="189280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Road to War: USA vs Japan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65760" y="2478024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65760" y="2478024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65760" y="2606040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03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14400" y="2606040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Admiral Yamamoto's Secret Plan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3191256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65760" y="3191256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365760" y="3319272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04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914400" y="3319272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Japanese Attack Fleet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365760" y="3904488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365760" y="3904488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365760" y="4032504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05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914400" y="4032504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December 7, 1941 — Timeline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4754880" y="1051560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754880" y="1051560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754880" y="1179576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06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303520" y="1179576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Wave 1: The First Strike (7:55 AM)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754880" y="1764792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4754880" y="1764792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754880" y="1892808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07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5303520" y="189280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Wave 2: The Attack Continues (8:54 AM)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754880" y="2478024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4754880" y="2478024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4754880" y="2606040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08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303520" y="2606040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Massenmedium</a:t>
              </a:r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Fotografie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754880" y="3191256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754880" y="3191256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4754880" y="3319272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09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303520" y="3319272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Porträtfotografie</a:t>
              </a:r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&amp; </a:t>
              </a:r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Inszenierung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754880" y="3904488"/>
              <a:ext cx="4023360" cy="576072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prstClr val="black">
                  <a:alpha val="7000"/>
                </a:prstClr>
              </a:outerShdw>
            </a:effectLst>
          </p:spPr>
          <p:txBody>
            <a:bodyPr/>
            <a:lstStyle/>
            <a:p>
              <a:endParaRPr lang="en-IN" sz="320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754880" y="3904488"/>
              <a:ext cx="475488" cy="576072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4754880" y="4032504"/>
              <a:ext cx="47548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10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5303520" y="4032504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Selbstbild</a:t>
              </a:r>
              <a:r>
                <a: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vs </a:t>
              </a:r>
              <a:r>
                <a:rPr lang="en-US" sz="1600" dirty="0" err="1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Fremdbild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4" name="Shape 4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World War II: Setting the Stage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341120"/>
            <a:ext cx="621792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0" name="Text 18"/>
          <p:cNvSpPr/>
          <p:nvPr/>
        </p:nvSpPr>
        <p:spPr>
          <a:xfrm>
            <a:off x="365760" y="64251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Pearl Harbor: A Day That Changed History  |  Slide 3 of 20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65191F-14FC-7F69-3096-3E0899EF7722}"/>
              </a:ext>
            </a:extLst>
          </p:cNvPr>
          <p:cNvGrpSpPr/>
          <p:nvPr/>
        </p:nvGrpSpPr>
        <p:grpSpPr>
          <a:xfrm>
            <a:off x="426720" y="1277016"/>
            <a:ext cx="11338563" cy="4978225"/>
            <a:chOff x="320039" y="957761"/>
            <a:chExt cx="8503922" cy="3733669"/>
          </a:xfrm>
        </p:grpSpPr>
        <p:sp>
          <p:nvSpPr>
            <p:cNvPr id="4" name="Shape 2"/>
            <p:cNvSpPr/>
            <p:nvPr/>
          </p:nvSpPr>
          <p:spPr>
            <a:xfrm>
              <a:off x="320039" y="1024687"/>
              <a:ext cx="94383" cy="3621023"/>
            </a:xfrm>
            <a:prstGeom prst="rect">
              <a:avLst/>
            </a:prstGeom>
            <a:solidFill>
              <a:srgbClr val="C8862A"/>
            </a:solidFill>
            <a:ln w="12700">
              <a:solidFill>
                <a:srgbClr val="C8862A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4FDECF-C8D1-E791-620A-B96CE9ABA937}"/>
                </a:ext>
              </a:extLst>
            </p:cNvPr>
            <p:cNvSpPr txBox="1"/>
            <p:nvPr/>
          </p:nvSpPr>
          <p:spPr>
            <a:xfrm>
              <a:off x="460143" y="957761"/>
              <a:ext cx="2812901" cy="3732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67" b="1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world in 1941 was at war.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Germany, led by Adolf Hitler, had invaded most of Europe. Italy and Japan joined Germany, forming the Axis Powers.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b="1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United States was NOT yet in the war.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Most Americans wanted to stay neutral and out of the conflict.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1867" i="1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But everything changed on one December morning in Hawaii...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F2BEC49-2CD6-57C6-D183-C3F2BF657BBC}"/>
                </a:ext>
              </a:extLst>
            </p:cNvPr>
            <p:cNvGrpSpPr/>
            <p:nvPr/>
          </p:nvGrpSpPr>
          <p:grpSpPr>
            <a:xfrm>
              <a:off x="3318765" y="978967"/>
              <a:ext cx="5505196" cy="3712463"/>
              <a:chOff x="3632407" y="1024128"/>
              <a:chExt cx="5191554" cy="3685032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3660267" y="1024128"/>
                <a:ext cx="5163693" cy="2313432"/>
              </a:xfrm>
              <a:prstGeom prst="rect">
                <a:avLst/>
              </a:prstGeom>
              <a:solidFill>
                <a:schemeClr val="accent4">
                  <a:lumMod val="25000"/>
                </a:schemeClr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3660267" y="1024128"/>
                <a:ext cx="5117973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2133" b="1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The World In 1941</a:t>
                </a:r>
                <a:endParaRPr lang="en-US" sz="2133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8F0841C-3CC7-0C11-CC17-480C900ECED0}"/>
                  </a:ext>
                </a:extLst>
              </p:cNvPr>
              <p:cNvGrpSpPr/>
              <p:nvPr/>
            </p:nvGrpSpPr>
            <p:grpSpPr>
              <a:xfrm>
                <a:off x="3660267" y="1444752"/>
                <a:ext cx="5163694" cy="1847088"/>
                <a:chOff x="5532120" y="1444752"/>
                <a:chExt cx="3275119" cy="1847088"/>
              </a:xfrm>
            </p:grpSpPr>
            <p:sp>
              <p:nvSpPr>
                <p:cNvPr id="8" name="Shape 6"/>
                <p:cNvSpPr/>
                <p:nvPr/>
              </p:nvSpPr>
              <p:spPr>
                <a:xfrm>
                  <a:off x="5532120" y="1444752"/>
                  <a:ext cx="3275118" cy="420624"/>
                </a:xfrm>
                <a:prstGeom prst="rect">
                  <a:avLst/>
                </a:prstGeom>
                <a:solidFill>
                  <a:srgbClr val="B03030">
                    <a:alpha val="62000"/>
                  </a:srgbClr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pPr algn="ctr"/>
                  <a:endParaRPr lang="en-IN" sz="320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5596128" y="1472184"/>
                  <a:ext cx="3127248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67" dirty="0">
                      <a:solidFill>
                        <a:srgbClr val="FFFFFF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Germany (Axis)  —  Controlling Most Of Europe</a:t>
                  </a:r>
                  <a:endParaRPr lang="en-US" sz="1467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0" name="Shape 8"/>
                <p:cNvSpPr/>
                <p:nvPr/>
              </p:nvSpPr>
              <p:spPr>
                <a:xfrm>
                  <a:off x="5532120" y="1920240"/>
                  <a:ext cx="3275119" cy="420624"/>
                </a:xfrm>
                <a:prstGeom prst="rect">
                  <a:avLst/>
                </a:prstGeom>
                <a:solidFill>
                  <a:srgbClr val="B03030">
                    <a:alpha val="62000"/>
                  </a:srgbClr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pPr algn="ctr"/>
                  <a:endParaRPr lang="en-IN" sz="320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1" name="Text 9"/>
                <p:cNvSpPr/>
                <p:nvPr/>
              </p:nvSpPr>
              <p:spPr>
                <a:xfrm>
                  <a:off x="5596128" y="1947672"/>
                  <a:ext cx="3127248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67" dirty="0">
                      <a:solidFill>
                        <a:srgbClr val="FFFFFF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Japan (Axis)  —  Expanding Across Asia</a:t>
                  </a:r>
                  <a:endParaRPr lang="en-US" sz="1467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2" name="Shape 10"/>
                <p:cNvSpPr/>
                <p:nvPr/>
              </p:nvSpPr>
              <p:spPr>
                <a:xfrm>
                  <a:off x="5532120" y="2395728"/>
                  <a:ext cx="3275118" cy="420624"/>
                </a:xfrm>
                <a:prstGeom prst="rect">
                  <a:avLst/>
                </a:prstGeom>
                <a:solidFill>
                  <a:srgbClr val="2A6E3A">
                    <a:alpha val="62000"/>
                  </a:srgbClr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pPr algn="ctr"/>
                  <a:endParaRPr lang="en-IN" sz="320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5596128" y="2423160"/>
                  <a:ext cx="3127248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67" dirty="0">
                      <a:solidFill>
                        <a:srgbClr val="FFFFFF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Britain (Allied)  —  Fighting Germany Alone</a:t>
                  </a:r>
                  <a:endParaRPr lang="en-US" sz="1467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4" name="Shape 12"/>
                <p:cNvSpPr/>
                <p:nvPr/>
              </p:nvSpPr>
              <p:spPr>
                <a:xfrm>
                  <a:off x="5532120" y="2871216"/>
                  <a:ext cx="3275118" cy="420624"/>
                </a:xfrm>
                <a:prstGeom prst="rect">
                  <a:avLst/>
                </a:prstGeom>
                <a:solidFill>
                  <a:srgbClr val="1A2B4A">
                    <a:alpha val="62000"/>
                  </a:srgbClr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pPr algn="ctr"/>
                  <a:endParaRPr lang="en-IN" sz="320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5" name="Text 13"/>
                <p:cNvSpPr/>
                <p:nvPr/>
              </p:nvSpPr>
              <p:spPr>
                <a:xfrm>
                  <a:off x="5596128" y="2898648"/>
                  <a:ext cx="3127248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67" dirty="0">
                      <a:solidFill>
                        <a:srgbClr val="FFFFFF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USA  —  Neutral — For Now!</a:t>
                  </a:r>
                  <a:endParaRPr lang="en-US" sz="1467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</p:grpSp>
          <p:sp>
            <p:nvSpPr>
              <p:cNvPr id="18" name="Text 16"/>
              <p:cNvSpPr/>
              <p:nvPr/>
            </p:nvSpPr>
            <p:spPr>
              <a:xfrm>
                <a:off x="3761185" y="3785616"/>
                <a:ext cx="4998767" cy="8412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CC6F6B1-9280-6EBC-BF4B-9B3831BE3A9F}"/>
                  </a:ext>
                </a:extLst>
              </p:cNvPr>
              <p:cNvGrpSpPr/>
              <p:nvPr/>
            </p:nvGrpSpPr>
            <p:grpSpPr>
              <a:xfrm>
                <a:off x="3632407" y="3429000"/>
                <a:ext cx="5191553" cy="1280160"/>
                <a:chOff x="3632407" y="3429000"/>
                <a:chExt cx="5191553" cy="1280160"/>
              </a:xfrm>
            </p:grpSpPr>
            <p:sp>
              <p:nvSpPr>
                <p:cNvPr id="16" name="Shape 14"/>
                <p:cNvSpPr/>
                <p:nvPr/>
              </p:nvSpPr>
              <p:spPr>
                <a:xfrm>
                  <a:off x="3632407" y="3429000"/>
                  <a:ext cx="5191553" cy="1280160"/>
                </a:xfrm>
                <a:prstGeom prst="rect">
                  <a:avLst/>
                </a:prstGeom>
                <a:solidFill>
                  <a:schemeClr val="accent3"/>
                </a:solidFill>
                <a:ln w="12700">
                  <a:solidFill>
                    <a:srgbClr val="C8862A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320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7" name="Text 15"/>
                <p:cNvSpPr/>
                <p:nvPr/>
              </p:nvSpPr>
              <p:spPr>
                <a:xfrm>
                  <a:off x="3696248" y="3639312"/>
                  <a:ext cx="5063871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3200" b="1" dirty="0">
                      <a:solidFill>
                        <a:srgbClr val="FFFFFF"/>
                      </a:solidFill>
                      <a:latin typeface="Poppins" panose="00000500000000000000" pitchFamily="2" charset="0"/>
                      <a:cs typeface="Poppins" panose="00000500000000000000" pitchFamily="2" charset="0"/>
                    </a:rPr>
                    <a:t>Quick Fact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446893-F718-5B6B-9E79-63994AC977BE}"/>
                    </a:ext>
                  </a:extLst>
                </p:cNvPr>
                <p:cNvSpPr txBox="1"/>
                <p:nvPr/>
              </p:nvSpPr>
              <p:spPr>
                <a:xfrm>
                  <a:off x="3939802" y="4018228"/>
                  <a:ext cx="4576762" cy="404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67" dirty="0">
                      <a:solidFill>
                        <a:schemeClr val="accent4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WWII lasted 1939–1945. It involved over 30 countries and cost more than 70 million lives — the deadliest conflict in history.</a:t>
                  </a:r>
                  <a:endParaRPr lang="en-US" sz="1467" dirty="0">
                    <a:solidFill>
                      <a:schemeClr val="accent4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Admiral Yamamoto's Secret Plan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280160"/>
            <a:ext cx="3169920" cy="4023360"/>
          </a:xfrm>
          <a:prstGeom prst="rect">
            <a:avLst/>
          </a:prstGeom>
          <a:solidFill>
            <a:schemeClr val="accent5">
              <a:lumMod val="90000"/>
              <a:lumOff val="1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" name="Shape 3"/>
          <p:cNvSpPr/>
          <p:nvPr/>
        </p:nvSpPr>
        <p:spPr>
          <a:xfrm>
            <a:off x="609600" y="1402080"/>
            <a:ext cx="2926080" cy="3779520"/>
          </a:xfrm>
          <a:prstGeom prst="rect">
            <a:avLst/>
          </a:prstGeom>
          <a:solidFill>
            <a:schemeClr val="accent5">
              <a:lumMod val="90000"/>
              <a:lumOff val="1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" name="Shape 4"/>
          <p:cNvSpPr/>
          <p:nvPr/>
        </p:nvSpPr>
        <p:spPr>
          <a:xfrm>
            <a:off x="1609344" y="2615184"/>
            <a:ext cx="926592" cy="926592"/>
          </a:xfrm>
          <a:prstGeom prst="ellipse">
            <a:avLst/>
          </a:prstGeom>
          <a:solidFill>
            <a:srgbClr val="2E4A6E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7" name="Shape 5"/>
          <p:cNvSpPr/>
          <p:nvPr/>
        </p:nvSpPr>
        <p:spPr>
          <a:xfrm>
            <a:off x="1901952" y="2907792"/>
            <a:ext cx="341376" cy="341376"/>
          </a:xfrm>
          <a:prstGeom prst="ellipse">
            <a:avLst/>
          </a:prstGeom>
          <a:solidFill>
            <a:srgbClr val="C8862A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8" name="Text 6"/>
          <p:cNvSpPr/>
          <p:nvPr/>
        </p:nvSpPr>
        <p:spPr>
          <a:xfrm>
            <a:off x="487680" y="4937760"/>
            <a:ext cx="31699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i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Admiral Isoroku Yamamoto, Japanese Naval Commander</a:t>
            </a:r>
            <a:endParaRPr lang="en-US" sz="1067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5303520"/>
            <a:ext cx="3169920" cy="609600"/>
          </a:xfrm>
          <a:prstGeom prst="rect">
            <a:avLst/>
          </a:prstGeom>
          <a:solidFill>
            <a:srgbClr val="C8862A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512064" y="5327904"/>
            <a:ext cx="3121152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Isoroku Yamamoto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Japanese Naval Commander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1280160"/>
            <a:ext cx="7802880" cy="499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B54240-DBF8-2AB6-6F9A-410EC16781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50"/>
          <a:stretch>
            <a:fillRect/>
          </a:stretch>
        </p:blipFill>
        <p:spPr>
          <a:xfrm>
            <a:off x="721360" y="1525099"/>
            <a:ext cx="2702560" cy="3289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E44774-5197-22A1-40BD-97ACFE430C64}"/>
              </a:ext>
            </a:extLst>
          </p:cNvPr>
          <p:cNvSpPr txBox="1"/>
          <p:nvPr/>
        </p:nvSpPr>
        <p:spPr>
          <a:xfrm>
            <a:off x="4351345" y="1389422"/>
            <a:ext cx="71091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Operation Z — The Master Plan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Admiral Yamamoto was Japan's greatest naval strategist. He had studied at Harvard University in the USA and understood American strength — and its weaknesses.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His plan: Destroy the US Pacific Fleet before America could respond.</a:t>
            </a:r>
            <a:endParaRPr lang="en-US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b="1" dirty="0">
              <a:solidFill>
                <a:schemeClr val="accent3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Key elements of the plan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Absolute secrecy — no warnings to the enemy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Strike at dawn on a Sunday for maximum surprise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Target battleships and parked aircraft on the ground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 specially modified torpedoes for Pearl Harbor's shallow water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Destroy America's will to fight in the Pacific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B854A-5C50-CAEE-AF3A-56D45858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E22C674-34D3-5356-9E2B-3D6517E13F8E}"/>
              </a:ext>
            </a:extLst>
          </p:cNvPr>
          <p:cNvSpPr/>
          <p:nvPr/>
        </p:nvSpPr>
        <p:spPr>
          <a:xfrm>
            <a:off x="487680" y="1219200"/>
            <a:ext cx="5852160" cy="3535680"/>
          </a:xfrm>
          <a:prstGeom prst="rect">
            <a:avLst/>
          </a:prstGeom>
          <a:solidFill>
            <a:schemeClr val="accent5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8769FA-B224-CF90-3E22-4095B7DD9799}"/>
              </a:ext>
            </a:extLst>
          </p:cNvPr>
          <p:cNvSpPr/>
          <p:nvPr/>
        </p:nvSpPr>
        <p:spPr>
          <a:xfrm>
            <a:off x="609600" y="1341120"/>
            <a:ext cx="5608320" cy="3291840"/>
          </a:xfrm>
          <a:prstGeom prst="rect">
            <a:avLst/>
          </a:prstGeom>
          <a:solidFill>
            <a:schemeClr val="accent5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257DDC8-2D39-A55A-A97E-0A141B6CC8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245" y="1461281"/>
            <a:ext cx="5193030" cy="2862162"/>
          </a:xfrm>
          <a:prstGeom prst="rect">
            <a:avLst/>
          </a:prstGeom>
          <a:ln>
            <a:noFill/>
          </a:ln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3CE4BDE-DF37-717C-AC22-9B8B67997B43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B5BCCB-3A75-F1BA-D3E6-96ED019FEFD8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The Japanese Attack Fleet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43EA77-C56D-BC58-689F-50D560E8B216}"/>
              </a:ext>
            </a:extLst>
          </p:cNvPr>
          <p:cNvSpPr/>
          <p:nvPr/>
        </p:nvSpPr>
        <p:spPr>
          <a:xfrm>
            <a:off x="487680" y="4340352"/>
            <a:ext cx="58521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Japanese Aircraft Carrier Akagi — Flagship of the Attack Fleet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60EE27D-0D5C-C43F-989D-EAEF20F621F8}"/>
              </a:ext>
            </a:extLst>
          </p:cNvPr>
          <p:cNvGrpSpPr/>
          <p:nvPr/>
        </p:nvGrpSpPr>
        <p:grpSpPr>
          <a:xfrm>
            <a:off x="6715411" y="1219200"/>
            <a:ext cx="4998720" cy="4876800"/>
            <a:chOff x="6827520" y="1219200"/>
            <a:chExt cx="4998720" cy="4572000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997BB1-AD83-AE38-33C4-108D24935D8B}"/>
                </a:ext>
              </a:extLst>
            </p:cNvPr>
            <p:cNvSpPr/>
            <p:nvPr/>
          </p:nvSpPr>
          <p:spPr>
            <a:xfrm>
              <a:off x="6827520" y="1219200"/>
              <a:ext cx="499872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b="1" dirty="0">
                  <a:solidFill>
                    <a:srgbClr val="1A2B4A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Strike Force Strength</a:t>
              </a:r>
              <a:endParaRPr lang="en-US" sz="2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81B8D24-C40C-C46F-D48F-2CFFA3157FBB}"/>
                </a:ext>
              </a:extLst>
            </p:cNvPr>
            <p:cNvSpPr/>
            <p:nvPr/>
          </p:nvSpPr>
          <p:spPr>
            <a:xfrm>
              <a:off x="6827520" y="1767840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A337986-8E99-BC96-F245-104AB944CA4A}"/>
                </a:ext>
              </a:extLst>
            </p:cNvPr>
            <p:cNvSpPr/>
            <p:nvPr/>
          </p:nvSpPr>
          <p:spPr>
            <a:xfrm>
              <a:off x="6973824" y="1889760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Aircraft Carriers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B61B51D7-AC7E-4717-70F1-E2281FFD2A41}"/>
                </a:ext>
              </a:extLst>
            </p:cNvPr>
            <p:cNvSpPr/>
            <p:nvPr/>
          </p:nvSpPr>
          <p:spPr>
            <a:xfrm>
              <a:off x="10180320" y="181660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5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6</a:t>
              </a:r>
              <a:endParaRPr lang="en-US" sz="2933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E08107DE-E1BB-6D94-C329-431DC91674E6}"/>
                </a:ext>
              </a:extLst>
            </p:cNvPr>
            <p:cNvSpPr/>
            <p:nvPr/>
          </p:nvSpPr>
          <p:spPr>
            <a:xfrm>
              <a:off x="6827520" y="2450592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6693B16-9FA3-8E06-75AD-F5D294D7D22C}"/>
                </a:ext>
              </a:extLst>
            </p:cNvPr>
            <p:cNvSpPr/>
            <p:nvPr/>
          </p:nvSpPr>
          <p:spPr>
            <a:xfrm>
              <a:off x="6973824" y="2572512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Battleships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F9BBB990-A64F-F94D-32E5-E5E2FB8FFD5B}"/>
                </a:ext>
              </a:extLst>
            </p:cNvPr>
            <p:cNvSpPr/>
            <p:nvPr/>
          </p:nvSpPr>
          <p:spPr>
            <a:xfrm>
              <a:off x="10180320" y="2499360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2</a:t>
              </a:r>
              <a:endParaRPr lang="en-US" sz="2933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9FA21C09-F346-DA7D-2080-1324ED3F9B87}"/>
                </a:ext>
              </a:extLst>
            </p:cNvPr>
            <p:cNvSpPr/>
            <p:nvPr/>
          </p:nvSpPr>
          <p:spPr>
            <a:xfrm>
              <a:off x="6827520" y="3133344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F766B33-8C03-0139-A235-65CAA4869AC7}"/>
                </a:ext>
              </a:extLst>
            </p:cNvPr>
            <p:cNvSpPr/>
            <p:nvPr/>
          </p:nvSpPr>
          <p:spPr>
            <a:xfrm>
              <a:off x="6973824" y="3255264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Cruisers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E3506387-DA10-5D9A-F723-870D9998130F}"/>
                </a:ext>
              </a:extLst>
            </p:cNvPr>
            <p:cNvSpPr/>
            <p:nvPr/>
          </p:nvSpPr>
          <p:spPr>
            <a:xfrm>
              <a:off x="10180320" y="3182112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5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3</a:t>
              </a:r>
              <a:endParaRPr lang="en-US" sz="2933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F87F2925-CB81-2BB6-F18F-5BE37B296E9E}"/>
                </a:ext>
              </a:extLst>
            </p:cNvPr>
            <p:cNvSpPr/>
            <p:nvPr/>
          </p:nvSpPr>
          <p:spPr>
            <a:xfrm>
              <a:off x="6827520" y="3816096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777E7812-34FB-66CA-A025-8B8491E713D7}"/>
                </a:ext>
              </a:extLst>
            </p:cNvPr>
            <p:cNvSpPr/>
            <p:nvPr/>
          </p:nvSpPr>
          <p:spPr>
            <a:xfrm>
              <a:off x="6973824" y="3938016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Destroyers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C0D2345-7605-586D-2E24-88642A783573}"/>
                </a:ext>
              </a:extLst>
            </p:cNvPr>
            <p:cNvSpPr/>
            <p:nvPr/>
          </p:nvSpPr>
          <p:spPr>
            <a:xfrm>
              <a:off x="10180320" y="3864864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11</a:t>
              </a:r>
              <a:endParaRPr lang="en-US" sz="2933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EF6C0D9-3F99-1434-C38C-BEB8A80C07D7}"/>
                </a:ext>
              </a:extLst>
            </p:cNvPr>
            <p:cNvSpPr/>
            <p:nvPr/>
          </p:nvSpPr>
          <p:spPr>
            <a:xfrm>
              <a:off x="6827520" y="4498848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EFBADD53-4076-A58C-6463-580B77196855}"/>
                </a:ext>
              </a:extLst>
            </p:cNvPr>
            <p:cNvSpPr/>
            <p:nvPr/>
          </p:nvSpPr>
          <p:spPr>
            <a:xfrm>
              <a:off x="6973824" y="4620768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Submarines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58A2CF9-A224-221D-1872-11806B4FC279}"/>
                </a:ext>
              </a:extLst>
            </p:cNvPr>
            <p:cNvSpPr/>
            <p:nvPr/>
          </p:nvSpPr>
          <p:spPr>
            <a:xfrm>
              <a:off x="10180320" y="4547616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5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29</a:t>
              </a:r>
              <a:endParaRPr lang="en-US" sz="2933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74A59DAB-0A22-1C2C-D3DE-49933192501B}"/>
                </a:ext>
              </a:extLst>
            </p:cNvPr>
            <p:cNvSpPr/>
            <p:nvPr/>
          </p:nvSpPr>
          <p:spPr>
            <a:xfrm>
              <a:off x="6827520" y="5181600"/>
              <a:ext cx="4998720" cy="60960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3F3CCDA1-057E-245B-A6D3-35B3E0F44280}"/>
                </a:ext>
              </a:extLst>
            </p:cNvPr>
            <p:cNvSpPr/>
            <p:nvPr/>
          </p:nvSpPr>
          <p:spPr>
            <a:xfrm>
              <a:off x="6973824" y="5303520"/>
              <a:ext cx="341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67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Total Aircraft</a:t>
              </a:r>
              <a:endParaRPr lang="en-US" sz="16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12668405-E330-A96A-8556-7F53B3AE50A6}"/>
                </a:ext>
              </a:extLst>
            </p:cNvPr>
            <p:cNvSpPr/>
            <p:nvPr/>
          </p:nvSpPr>
          <p:spPr>
            <a:xfrm>
              <a:off x="10180320" y="523036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933" b="1" dirty="0">
                  <a:solidFill>
                    <a:schemeClr val="accent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414</a:t>
              </a:r>
              <a:endParaRPr lang="en-US" sz="2933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8" name="Shape 26">
            <a:extLst>
              <a:ext uri="{FF2B5EF4-FFF2-40B4-BE49-F238E27FC236}">
                <a16:creationId xmlns:a16="http://schemas.microsoft.com/office/drawing/2014/main" id="{345F69F3-B92D-29B8-EED9-3B4677A351C6}"/>
              </a:ext>
            </a:extLst>
          </p:cNvPr>
          <p:cNvSpPr/>
          <p:nvPr/>
        </p:nvSpPr>
        <p:spPr>
          <a:xfrm>
            <a:off x="487680" y="4876800"/>
            <a:ext cx="5852160" cy="121920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83A7A28-51E8-EE5A-02AA-3A5847733C11}"/>
              </a:ext>
            </a:extLst>
          </p:cNvPr>
          <p:cNvSpPr/>
          <p:nvPr/>
        </p:nvSpPr>
        <p:spPr>
          <a:xfrm>
            <a:off x="609600" y="4974336"/>
            <a:ext cx="5608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A0840F4-E410-4CFF-896D-69CD344E2F5F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9FB615-9ACB-8AA8-6577-843F946A705A}"/>
              </a:ext>
            </a:extLst>
          </p:cNvPr>
          <p:cNvSpPr txBox="1"/>
          <p:nvPr/>
        </p:nvSpPr>
        <p:spPr>
          <a:xfrm>
            <a:off x="477869" y="5224790"/>
            <a:ext cx="5861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fleet secretly sailed 3,500 miles across the North Pacific, maintaining complete radio silence to avoid detection.</a:t>
            </a:r>
            <a:endParaRPr lang="en-US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6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Pearl Harbor: America's Pacific Naval Base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FF9809-2420-C09E-BE3C-B514B4F9FFA2}"/>
              </a:ext>
            </a:extLst>
          </p:cNvPr>
          <p:cNvGrpSpPr/>
          <p:nvPr/>
        </p:nvGrpSpPr>
        <p:grpSpPr>
          <a:xfrm>
            <a:off x="365760" y="1432052"/>
            <a:ext cx="11460480" cy="4608576"/>
            <a:chOff x="365760" y="1280160"/>
            <a:chExt cx="11460480" cy="460857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413F6F6-1D00-B023-7BFD-1F333BB3D3DF}"/>
                </a:ext>
              </a:extLst>
            </p:cNvPr>
            <p:cNvGrpSpPr/>
            <p:nvPr/>
          </p:nvGrpSpPr>
          <p:grpSpPr>
            <a:xfrm>
              <a:off x="7437120" y="1280160"/>
              <a:ext cx="4389120" cy="4608576"/>
              <a:chOff x="7437120" y="1219200"/>
              <a:chExt cx="4389120" cy="4608576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7437120" y="1219200"/>
                <a:ext cx="4389120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Key Facts</a:t>
                </a:r>
                <a:endParaRPr lang="en-US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7437120" y="1804416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7559040" y="1926336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Island Of Oahu, Hawaii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7437120" y="2487168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7559040" y="2609088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Home To The Entire US Pacific Fleet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7437120" y="3169920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7559040" y="3291840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3,700 Miles From The US Mainland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7437120" y="3852672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7559040" y="3974592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Over 100 Navy Ships Stationed Here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7437120" y="4535424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7559040" y="4657344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Considered Very Safe And Far From Enemies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7437120" y="5218176"/>
                <a:ext cx="4389120" cy="609600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en-IN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7559040" y="5340096"/>
                <a:ext cx="41452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 Quiet, Relaxed Sunday Morning...</a:t>
                </a:r>
                <a:endParaRPr lang="en-US" sz="1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30F01FD-89A1-25F3-8DCF-35DF57C35984}"/>
                </a:ext>
              </a:extLst>
            </p:cNvPr>
            <p:cNvGrpSpPr/>
            <p:nvPr/>
          </p:nvGrpSpPr>
          <p:grpSpPr>
            <a:xfrm>
              <a:off x="365760" y="1280160"/>
              <a:ext cx="6583680" cy="4608576"/>
              <a:chOff x="487680" y="1048512"/>
              <a:chExt cx="6583680" cy="4608576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87680" y="1048512"/>
                <a:ext cx="6583680" cy="4608576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609600" y="1341120"/>
                <a:ext cx="6339840" cy="4023360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3316224" y="2676144"/>
                <a:ext cx="926592" cy="926592"/>
              </a:xfrm>
              <a:prstGeom prst="ellipse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3608832" y="2968752"/>
                <a:ext cx="341376" cy="341376"/>
              </a:xfrm>
              <a:prstGeom prst="ellipse">
                <a:avLst/>
              </a:prstGeom>
              <a:solidFill>
                <a:srgbClr val="C8862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609600" y="5081016"/>
                <a:ext cx="6339840" cy="316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Aerial view of Pearl Harbor, Oahu, Hawaii</a:t>
                </a: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5442482-0B39-4B49-5D83-BFB07303DA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1520" y="1397165"/>
                <a:ext cx="6096000" cy="3402419"/>
              </a:xfrm>
              <a:prstGeom prst="rect">
                <a:avLst/>
              </a:prstGeom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4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December 7, 1941 — Hour by Hour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EB103A4-4A0C-899F-683F-663283B00AA5}"/>
              </a:ext>
            </a:extLst>
          </p:cNvPr>
          <p:cNvGrpSpPr/>
          <p:nvPr/>
        </p:nvGrpSpPr>
        <p:grpSpPr>
          <a:xfrm>
            <a:off x="481584" y="1280160"/>
            <a:ext cx="11228832" cy="4956048"/>
            <a:chOff x="365760" y="1280160"/>
            <a:chExt cx="11228832" cy="495604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D50F7B6-DC9C-50AB-B967-55F94FAC3BCA}"/>
                </a:ext>
              </a:extLst>
            </p:cNvPr>
            <p:cNvGrpSpPr/>
            <p:nvPr/>
          </p:nvGrpSpPr>
          <p:grpSpPr>
            <a:xfrm>
              <a:off x="365760" y="1280160"/>
              <a:ext cx="1767840" cy="4956048"/>
              <a:chOff x="365760" y="1280160"/>
              <a:chExt cx="1767840" cy="481584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365760" y="1280160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365760" y="1402080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6:00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365760" y="2109216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65760" y="2231136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6:45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365760" y="2938272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365760" y="3060192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7:02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365760" y="3767328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65760" y="3889248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7:55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365760" y="4596384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65760" y="4718304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8:54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365760" y="5425440"/>
                <a:ext cx="1767840" cy="670560"/>
              </a:xfrm>
              <a:prstGeom prst="rect">
                <a:avLst/>
              </a:prstGeom>
              <a:solidFill>
                <a:srgbClr val="B03030"/>
              </a:solidFill>
              <a:ln w="12700">
                <a:solidFill>
                  <a:srgbClr val="B03030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65760" y="5547360"/>
                <a:ext cx="1767840" cy="4267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33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9:55 AM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95E7F0B-5206-FE92-E713-AE7614750D47}"/>
                </a:ext>
              </a:extLst>
            </p:cNvPr>
            <p:cNvGrpSpPr/>
            <p:nvPr/>
          </p:nvGrpSpPr>
          <p:grpSpPr>
            <a:xfrm>
              <a:off x="1975104" y="1280160"/>
              <a:ext cx="316992" cy="4956048"/>
              <a:chOff x="2097024" y="1261872"/>
              <a:chExt cx="316992" cy="4956048"/>
            </a:xfrm>
            <a:solidFill>
              <a:schemeClr val="accent3"/>
            </a:solidFill>
          </p:grpSpPr>
          <p:sp>
            <p:nvSpPr>
              <p:cNvPr id="4" name="Shape 2"/>
              <p:cNvSpPr/>
              <p:nvPr/>
            </p:nvSpPr>
            <p:spPr>
              <a:xfrm>
                <a:off x="2255520" y="1261872"/>
                <a:ext cx="0" cy="4956048"/>
              </a:xfrm>
              <a:prstGeom prst="lin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2097024" y="1499616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2097024" y="2328672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2097024" y="3157728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2097024" y="3986784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3" name="Shape 21"/>
              <p:cNvSpPr/>
              <p:nvPr/>
            </p:nvSpPr>
            <p:spPr>
              <a:xfrm>
                <a:off x="2097024" y="4815840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7" name="Shape 25"/>
              <p:cNvSpPr/>
              <p:nvPr/>
            </p:nvSpPr>
            <p:spPr>
              <a:xfrm>
                <a:off x="2097024" y="5644896"/>
                <a:ext cx="316992" cy="316992"/>
              </a:xfrm>
              <a:prstGeom prst="ellipse">
                <a:avLst/>
              </a:prstGeom>
              <a:grpFill/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65CF46F-1801-FA2D-A1FF-D7F6CA993AF0}"/>
                </a:ext>
              </a:extLst>
            </p:cNvPr>
            <p:cNvGrpSpPr/>
            <p:nvPr/>
          </p:nvGrpSpPr>
          <p:grpSpPr>
            <a:xfrm>
              <a:off x="2450592" y="1365504"/>
              <a:ext cx="9144000" cy="4681728"/>
              <a:chOff x="2450592" y="1365504"/>
              <a:chExt cx="9144000" cy="4681728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2450592" y="1365504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183 Japanese planes take off from aircraft carriers north of Hawaii.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2450592" y="2194560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USS Ward sinks a Japanese submarine. Warning sent to command — but ignored.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2450592" y="3023616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Radar spots planes approaching. Officer assumes they are US B-17s. No alarm raised.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2450592" y="3852672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BOMBS DROP! Wave 1 begins. Battleship Row targeted. Complete surprise achieved!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2450592" y="4681728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Wave 2 of 167 aircraft arrives. Airfields and remaining ships bombed.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2450592" y="5510784"/>
                <a:ext cx="9144000" cy="5364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Attack ends. In under 2 hours, the US Pacific Fleet lies in ruins.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29" name="Shape 2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Wave 1: The First Strike — 7:55 AM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0CF00F-6643-A771-CA6D-77858E1D01F5}"/>
              </a:ext>
            </a:extLst>
          </p:cNvPr>
          <p:cNvGrpSpPr/>
          <p:nvPr/>
        </p:nvGrpSpPr>
        <p:grpSpPr>
          <a:xfrm>
            <a:off x="487680" y="1371600"/>
            <a:ext cx="11216640" cy="4754880"/>
            <a:chOff x="487680" y="1219200"/>
            <a:chExt cx="11216640" cy="47548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1DD2834-9413-DDF5-9C96-0C27DAE91523}"/>
                </a:ext>
              </a:extLst>
            </p:cNvPr>
            <p:cNvGrpSpPr/>
            <p:nvPr/>
          </p:nvGrpSpPr>
          <p:grpSpPr>
            <a:xfrm>
              <a:off x="6461760" y="1219200"/>
              <a:ext cx="5242560" cy="4754880"/>
              <a:chOff x="6583680" y="1219200"/>
              <a:chExt cx="5242560" cy="4754880"/>
            </a:xfrm>
          </p:grpSpPr>
          <p:sp>
            <p:nvSpPr>
              <p:cNvPr id="11" name="Text 9"/>
              <p:cNvSpPr/>
              <p:nvPr/>
            </p:nvSpPr>
            <p:spPr>
              <a:xfrm>
                <a:off x="6583680" y="1219200"/>
                <a:ext cx="524256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r>
                  <a:rPr lang="en-US" sz="1867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183 Aircraft — 4 Types Of Attack</a:t>
                </a:r>
                <a:endParaRPr lang="en-US" sz="1867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6583680" y="1804416"/>
                <a:ext cx="5242560" cy="950976"/>
              </a:xfrm>
              <a:prstGeom prst="rect">
                <a:avLst/>
              </a:prstGeom>
              <a:solidFill>
                <a:srgbClr val="D0DCE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6729984" y="1877568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✈  Torpedo Bombers  (40 planes)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6729984" y="2267712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533" dirty="0">
                    <a:solidFill>
                      <a:srgbClr val="2E4A6E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Attacked ships with underwater torpedoes.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6583680" y="2877312"/>
                <a:ext cx="5242560" cy="950976"/>
              </a:xfrm>
              <a:prstGeom prst="rect">
                <a:avLst/>
              </a:prstGeom>
              <a:solidFill>
                <a:srgbClr val="E0EAF5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6729984" y="2950464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✈  Dive Bombers  (51 planes)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729984" y="3340608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533" dirty="0">
                    <a:solidFill>
                      <a:srgbClr val="2E4A6E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Dropped bombs directly onto ships from above.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6583680" y="3950208"/>
                <a:ext cx="5242560" cy="950976"/>
              </a:xfrm>
              <a:prstGeom prst="rect">
                <a:avLst/>
              </a:prstGeom>
              <a:solidFill>
                <a:srgbClr val="D0DCE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6729984" y="4023360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✈  High-Level Bombers  (49 planes)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6729984" y="4413504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533" dirty="0">
                    <a:solidFill>
                      <a:srgbClr val="2E4A6E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Dropped heavy bombs from high altitude.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6583680" y="5023104"/>
                <a:ext cx="5242560" cy="950976"/>
              </a:xfrm>
              <a:prstGeom prst="rect">
                <a:avLst/>
              </a:prstGeom>
              <a:solidFill>
                <a:srgbClr val="E0EAF5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6729984" y="5096256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✈  Fighter Planes  (43 planes)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6729984" y="5486400"/>
                <a:ext cx="4998720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r>
                  <a:rPr lang="en-US" sz="1533" dirty="0">
                    <a:solidFill>
                      <a:srgbClr val="2E4A6E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Destroyed US aircraft parked on the ground.</a:t>
                </a:r>
                <a:endParaRPr lang="en-US" sz="1533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F3FCF35-036E-6595-7F50-AB4F1374E62A}"/>
                </a:ext>
              </a:extLst>
            </p:cNvPr>
            <p:cNvGrpSpPr/>
            <p:nvPr/>
          </p:nvGrpSpPr>
          <p:grpSpPr>
            <a:xfrm>
              <a:off x="487680" y="1219200"/>
              <a:ext cx="5608320" cy="4754880"/>
              <a:chOff x="487680" y="1219200"/>
              <a:chExt cx="5608320" cy="475488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87680" y="1219200"/>
                <a:ext cx="5608320" cy="365760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609600" y="1341120"/>
                <a:ext cx="5364480" cy="341376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2828544" y="2371344"/>
                <a:ext cx="926592" cy="926592"/>
              </a:xfrm>
              <a:prstGeom prst="ellipse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3121152" y="2663952"/>
                <a:ext cx="341376" cy="341376"/>
              </a:xfrm>
              <a:prstGeom prst="ellipse">
                <a:avLst/>
              </a:prstGeom>
              <a:solidFill>
                <a:srgbClr val="C8862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487680" y="4381500"/>
                <a:ext cx="5608320" cy="316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algn="ctr"/>
                <a:r>
                  <a:rPr lang="en-US" sz="12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Japanese planes launch from carrier. Pilots radio: 'Tora! Tora! Tora!'</a:t>
                </a:r>
                <a:endPara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487680" y="4998720"/>
                <a:ext cx="5608320" cy="975360"/>
              </a:xfrm>
              <a:prstGeom prst="rect">
                <a:avLst/>
              </a:prstGeom>
              <a:solidFill>
                <a:srgbClr val="B0303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548640" y="5120640"/>
                <a:ext cx="5486400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"TORA! TORA! TORA!" </a:t>
                </a:r>
              </a:p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(Tiger! Tiger! Tiger!)</a:t>
                </a:r>
                <a:endParaRPr lang="en-US" sz="24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807195E-69D5-B661-C177-A002243BF0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92480" y="1531088"/>
                <a:ext cx="4998720" cy="2789984"/>
              </a:xfrm>
              <a:prstGeom prst="rect">
                <a:avLst/>
              </a:prstGeom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Wave 2: The Attack Continues — 8:54 AM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D9160E1-9DF6-0727-337B-29DFA34D843A}"/>
              </a:ext>
            </a:extLst>
          </p:cNvPr>
          <p:cNvGrpSpPr/>
          <p:nvPr/>
        </p:nvGrpSpPr>
        <p:grpSpPr>
          <a:xfrm>
            <a:off x="365760" y="1402080"/>
            <a:ext cx="11513820" cy="4693920"/>
            <a:chOff x="487680" y="1221893"/>
            <a:chExt cx="11513820" cy="46939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2C56A17-1357-7D6E-D444-73161648305F}"/>
                </a:ext>
              </a:extLst>
            </p:cNvPr>
            <p:cNvGrpSpPr/>
            <p:nvPr/>
          </p:nvGrpSpPr>
          <p:grpSpPr>
            <a:xfrm>
              <a:off x="487680" y="1221893"/>
              <a:ext cx="6096000" cy="4693920"/>
              <a:chOff x="487680" y="1219200"/>
              <a:chExt cx="6096000" cy="469392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87680" y="1219200"/>
                <a:ext cx="6096000" cy="3779520"/>
              </a:xfrm>
              <a:prstGeom prst="rect">
                <a:avLst/>
              </a:prstGeom>
              <a:solidFill>
                <a:schemeClr val="accent5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609600" y="1341120"/>
                <a:ext cx="5852160" cy="353568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C8862A"/>
                </a:solidFill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487680" y="4998720"/>
                <a:ext cx="6096000" cy="914400"/>
              </a:xfrm>
              <a:prstGeom prst="rect">
                <a:avLst/>
              </a:prstGeom>
              <a:solidFill>
                <a:schemeClr val="accent5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609600" y="5029978"/>
                <a:ext cx="585216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533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The Zero was the most advanced fighter in the Pacific — faster and more agile than any US plane in 1941.</a:t>
                </a:r>
                <a:endParaRPr lang="en-US" sz="1533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15125D3-2983-38BF-7E91-7B358D119410}"/>
                  </a:ext>
                </a:extLst>
              </p:cNvPr>
              <p:cNvGrpSpPr/>
              <p:nvPr/>
            </p:nvGrpSpPr>
            <p:grpSpPr>
              <a:xfrm>
                <a:off x="487680" y="1494298"/>
                <a:ext cx="6096000" cy="3367770"/>
                <a:chOff x="487680" y="1494298"/>
                <a:chExt cx="6096000" cy="3367770"/>
              </a:xfrm>
            </p:grpSpPr>
            <p:sp>
              <p:nvSpPr>
                <p:cNvPr id="8" name="Text 6"/>
                <p:cNvSpPr/>
                <p:nvPr/>
              </p:nvSpPr>
              <p:spPr>
                <a:xfrm>
                  <a:off x="487680" y="4545076"/>
                  <a:ext cx="6096000" cy="31699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i="1" dirty="0">
                      <a:solidFill>
                        <a:schemeClr val="bg1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Mitsubishi A6M Zero — Japan's fast and deadly fighter plane</a:t>
                  </a:r>
                  <a:endParaRPr lang="en-US" sz="12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FBA7E54-DF2F-F733-4357-81E1E40FB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0485" y="1494298"/>
                  <a:ext cx="5350390" cy="298626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F2E7112-EC25-DA1F-96B3-A0EE76B6D240}"/>
                </a:ext>
              </a:extLst>
            </p:cNvPr>
            <p:cNvGrpSpPr/>
            <p:nvPr/>
          </p:nvGrpSpPr>
          <p:grpSpPr>
            <a:xfrm>
              <a:off x="6949440" y="1249680"/>
              <a:ext cx="5052060" cy="4638347"/>
              <a:chOff x="6949440" y="1280160"/>
              <a:chExt cx="5052060" cy="4638347"/>
            </a:xfrm>
          </p:grpSpPr>
          <p:sp>
            <p:nvSpPr>
              <p:cNvPr id="11" name="Text 9"/>
              <p:cNvSpPr/>
              <p:nvPr/>
            </p:nvSpPr>
            <p:spPr>
              <a:xfrm>
                <a:off x="6949440" y="1280160"/>
                <a:ext cx="5052060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867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Second Wave Details</a:t>
                </a:r>
                <a:endParaRPr lang="en-US" sz="1867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6949440" y="1828800"/>
                <a:ext cx="4876800" cy="3230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457178" indent="-457178">
                  <a:buSzPct val="100000"/>
                  <a:buChar char="•"/>
                </a:pPr>
                <a:endParaRPr lang="en-US" sz="1667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2A25AD-56B3-5853-CF99-AC415E3AC4B0}"/>
                  </a:ext>
                </a:extLst>
              </p:cNvPr>
              <p:cNvSpPr txBox="1"/>
              <p:nvPr/>
            </p:nvSpPr>
            <p:spPr>
              <a:xfrm>
                <a:off x="6949440" y="1796776"/>
                <a:ext cx="5052060" cy="2939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167 more planes — less than 1 hour after Wave 1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Main targets: airfields and remaining US aircraft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Also hit shipyards and fuel storage depots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By now, American anti-aircraft guns were firing back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29 Japanese planes were shot down during Wave 2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spcBef>
                    <a:spcPts val="600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The attack ended at approximately 9:55 AM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4B1640F-0C0A-B899-C07D-39221079474E}"/>
                  </a:ext>
                </a:extLst>
              </p:cNvPr>
              <p:cNvGrpSpPr/>
              <p:nvPr/>
            </p:nvGrpSpPr>
            <p:grpSpPr>
              <a:xfrm>
                <a:off x="6984046" y="5004107"/>
                <a:ext cx="4876800" cy="914400"/>
                <a:chOff x="6984046" y="5181600"/>
                <a:chExt cx="4876800" cy="914400"/>
              </a:xfrm>
            </p:grpSpPr>
            <p:sp>
              <p:nvSpPr>
                <p:cNvPr id="13" name="Shape 11"/>
                <p:cNvSpPr/>
                <p:nvPr/>
              </p:nvSpPr>
              <p:spPr>
                <a:xfrm>
                  <a:off x="6984046" y="5181600"/>
                  <a:ext cx="4876800" cy="914400"/>
                </a:xfrm>
                <a:prstGeom prst="rect">
                  <a:avLst/>
                </a:prstGeom>
                <a:solidFill>
                  <a:schemeClr val="accent5"/>
                </a:solidFill>
                <a:ln w="12700">
                  <a:solidFill>
                    <a:srgbClr val="1A2B4A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3200"/>
                </a:p>
              </p:txBody>
            </p:sp>
            <p:sp>
              <p:nvSpPr>
                <p:cNvPr id="14" name="Text 12"/>
                <p:cNvSpPr/>
                <p:nvPr/>
              </p:nvSpPr>
              <p:spPr>
                <a:xfrm>
                  <a:off x="7010400" y="5279136"/>
                  <a:ext cx="4754880" cy="707136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endParaRPr lang="en-US" sz="12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93CBE54-B172-0E0B-5624-C0DF228D8EB1}"/>
                    </a:ext>
                  </a:extLst>
                </p:cNvPr>
                <p:cNvSpPr txBox="1"/>
                <p:nvPr/>
              </p:nvSpPr>
              <p:spPr>
                <a:xfrm>
                  <a:off x="7045007" y="5338718"/>
                  <a:ext cx="4754879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1600" dirty="0">
                      <a:solidFill>
                        <a:schemeClr val="accent3"/>
                      </a:solidFill>
                      <a:latin typeface="Poppins" panose="00000500000000000000" pitchFamily="2" charset="0"/>
                      <a:cs typeface="Poppins" panose="00000500000000000000" pitchFamily="2" charset="0"/>
                    </a:rPr>
                    <a:t>Total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200" dirty="0">
                      <a:solidFill>
                        <a:schemeClr val="bg1"/>
                      </a:solidFill>
                      <a:latin typeface="Poppins" panose="00000500000000000000" pitchFamily="2" charset="0"/>
                      <a:cs typeface="Poppins" panose="00000500000000000000" pitchFamily="2" charset="0"/>
                    </a:rPr>
                    <a:t>350 Japanese aircraft attacked in under 2 hours!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The Sinking of USS Arizona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3EC923-B354-F315-36DE-13D889377A44}"/>
              </a:ext>
            </a:extLst>
          </p:cNvPr>
          <p:cNvGrpSpPr/>
          <p:nvPr/>
        </p:nvGrpSpPr>
        <p:grpSpPr>
          <a:xfrm>
            <a:off x="426720" y="1280160"/>
            <a:ext cx="11338560" cy="4998720"/>
            <a:chOff x="487680" y="1280160"/>
            <a:chExt cx="11338560" cy="4998720"/>
          </a:xfrm>
        </p:grpSpPr>
        <p:sp>
          <p:nvSpPr>
            <p:cNvPr id="10" name="Shape 8"/>
            <p:cNvSpPr/>
            <p:nvPr/>
          </p:nvSpPr>
          <p:spPr>
            <a:xfrm>
              <a:off x="487680" y="1280160"/>
              <a:ext cx="6461760" cy="4998720"/>
            </a:xfrm>
            <a:prstGeom prst="rect">
              <a:avLst/>
            </a:prstGeom>
            <a:solidFill>
              <a:srgbClr val="111A27">
                <a:alpha val="80000"/>
              </a:srgbClr>
            </a:solidFill>
            <a:ln w="12700">
              <a:solidFill>
                <a:schemeClr val="bg1">
                  <a:alpha val="64000"/>
                </a:schemeClr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31520" y="1463040"/>
              <a:ext cx="5364480" cy="46329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endParaRPr lang="en-US" sz="1733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7315200" y="1280160"/>
              <a:ext cx="4511040" cy="4998720"/>
            </a:xfrm>
            <a:prstGeom prst="rect">
              <a:avLst/>
            </a:prstGeom>
            <a:solidFill>
              <a:srgbClr val="111A27">
                <a:alpha val="80000"/>
              </a:srgbClr>
            </a:solidFill>
            <a:ln w="12700">
              <a:solidFill>
                <a:schemeClr val="bg1">
                  <a:alpha val="64000"/>
                </a:schemeClr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437120" y="1438656"/>
              <a:ext cx="426720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867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By the Numbers</a:t>
              </a:r>
              <a:endParaRPr lang="en-US" sz="186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437120" y="2048256"/>
              <a:ext cx="42672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1,177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437120" y="2657856"/>
              <a:ext cx="42672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sailors killed on USS Arizona</a:t>
              </a:r>
              <a:endParaRPr lang="en-US" sz="14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437120" y="3084576"/>
              <a:ext cx="42672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9 min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437120" y="3694176"/>
              <a:ext cx="42672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time it took to sink</a:t>
              </a:r>
              <a:endParaRPr lang="en-US" sz="14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7437120" y="4120896"/>
              <a:ext cx="42672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2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437120" y="4730496"/>
              <a:ext cx="42672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bomb hits sustained</a:t>
              </a:r>
              <a:endParaRPr lang="en-US" sz="14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7437120" y="5157216"/>
              <a:ext cx="42672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1962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437120" y="5766816"/>
              <a:ext cx="42672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year the memorial opened</a:t>
              </a:r>
              <a:endParaRPr lang="en-US" sz="14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B9C853-91A1-EBE3-AEB8-AD887534D7C7}"/>
                </a:ext>
              </a:extLst>
            </p:cNvPr>
            <p:cNvSpPr txBox="1"/>
            <p:nvPr/>
          </p:nvSpPr>
          <p:spPr>
            <a:xfrm>
              <a:off x="864870" y="1594307"/>
              <a:ext cx="5707380" cy="43704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Most Famous Ship Lost at Pearl Harbor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At 8:10 AM, an armor-piercing bomb struck the USS Arizona's forward ammunition magazine — causing a massive explosion heard miles away.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ship sank in just 9 minutes.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1,177 sailors and Marines died on the Arizona alone — nearly half of all Pearl Harbor deaths.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2000" i="1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Today, the USS Arizona Memorial sits above the sunken ship. Oil still slowly seeps from the wreck — called the 'Tears of the Arizona.'</a:t>
              </a:r>
              <a:endPara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The Damage: Ships &amp; Aircraft Lost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720" y="1219200"/>
            <a:ext cx="7071360" cy="4632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B4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Major Ships Attacked</a:t>
            </a:r>
            <a:endParaRPr lang="en-US" sz="18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755648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755648"/>
            <a:ext cx="73152" cy="51206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853184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Arizona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52800" y="1853184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0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Sunk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47360" y="1853184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1,177 killed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" y="2328672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6720" y="2328672"/>
            <a:ext cx="73152" cy="51206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426208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Oklahoma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52800" y="2426208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0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Capsized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47360" y="2426208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429 killed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6720" y="2901696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720" y="2901696"/>
            <a:ext cx="73152" cy="51206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" y="2999232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West Virginia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52800" y="2999232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0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Sunk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47360" y="2999232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Later raised &amp; repaired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6720" y="3474720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6720" y="3474720"/>
            <a:ext cx="73152" cy="51206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" y="3572256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California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52800" y="3572256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0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Sunk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47360" y="3572256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Later raised &amp; repaired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6720" y="4047744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6720" y="4047744"/>
            <a:ext cx="73152" cy="512064"/>
          </a:xfrm>
          <a:prstGeom prst="rect">
            <a:avLst/>
          </a:prstGeom>
          <a:solidFill>
            <a:srgbClr val="2E4A6E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" y="4145280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Nevada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52800" y="4145280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4A6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Grounded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47360" y="4145280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Later repaired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6720" y="4620768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6720" y="4620768"/>
            <a:ext cx="73152" cy="512064"/>
          </a:xfrm>
          <a:prstGeom prst="rect">
            <a:avLst/>
          </a:prstGeom>
          <a:solidFill>
            <a:srgbClr val="2E4A6E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1792" y="4718304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Shaw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52800" y="4718304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4A6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Heavily damaged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547360" y="4718304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Later repaired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26720" y="5193792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6720" y="5193792"/>
            <a:ext cx="73152" cy="51206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1792" y="5291328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Utah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52800" y="5291328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0303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Sunk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47360" y="5291328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Never raised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6720" y="5766816"/>
            <a:ext cx="7071360" cy="5120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6720" y="5766816"/>
            <a:ext cx="73152" cy="512064"/>
          </a:xfrm>
          <a:prstGeom prst="rect">
            <a:avLst/>
          </a:prstGeom>
          <a:solidFill>
            <a:srgbClr val="2E4A6E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1792" y="5864352"/>
            <a:ext cx="26822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B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USS Helena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352800" y="5864352"/>
            <a:ext cx="207264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4A6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Damaged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547360" y="5864352"/>
            <a:ext cx="1889760" cy="316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Later repaired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1219200"/>
            <a:ext cx="3901440" cy="4632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B4A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Total Impact</a:t>
            </a:r>
            <a:endParaRPr lang="en-US" sz="18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863840" y="1804416"/>
            <a:ext cx="3901440" cy="999744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996866-84F3-8261-2ACA-D45AB013B3AF}"/>
              </a:ext>
            </a:extLst>
          </p:cNvPr>
          <p:cNvGrpSpPr/>
          <p:nvPr/>
        </p:nvGrpSpPr>
        <p:grpSpPr>
          <a:xfrm>
            <a:off x="7863840" y="1853184"/>
            <a:ext cx="3901440" cy="902208"/>
            <a:chOff x="7863840" y="1828800"/>
            <a:chExt cx="3901440" cy="902208"/>
          </a:xfrm>
        </p:grpSpPr>
        <p:sp>
          <p:nvSpPr>
            <p:cNvPr id="47" name="Text 45"/>
            <p:cNvSpPr/>
            <p:nvPr/>
          </p:nvSpPr>
          <p:spPr>
            <a:xfrm>
              <a:off x="7863840" y="1828800"/>
              <a:ext cx="3901440" cy="536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21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7863840" y="2365248"/>
              <a:ext cx="3901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Ships hit</a:t>
              </a:r>
              <a:endParaRPr lang="en-US" sz="146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9" name="Shape 47"/>
          <p:cNvSpPr/>
          <p:nvPr/>
        </p:nvSpPr>
        <p:spPr>
          <a:xfrm>
            <a:off x="7863840" y="2950464"/>
            <a:ext cx="3901440" cy="99974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28EBB5A-3969-07BA-BD5B-AD358F792D96}"/>
              </a:ext>
            </a:extLst>
          </p:cNvPr>
          <p:cNvGrpSpPr/>
          <p:nvPr/>
        </p:nvGrpSpPr>
        <p:grpSpPr>
          <a:xfrm>
            <a:off x="7863840" y="2999232"/>
            <a:ext cx="3901440" cy="902208"/>
            <a:chOff x="7863840" y="2974848"/>
            <a:chExt cx="3901440" cy="902208"/>
          </a:xfrm>
        </p:grpSpPr>
        <p:sp>
          <p:nvSpPr>
            <p:cNvPr id="50" name="Text 48"/>
            <p:cNvSpPr/>
            <p:nvPr/>
          </p:nvSpPr>
          <p:spPr>
            <a:xfrm>
              <a:off x="7863840" y="2974848"/>
              <a:ext cx="3901440" cy="536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328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7863840" y="3511296"/>
              <a:ext cx="3901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Aircraft destroyed</a:t>
              </a:r>
              <a:endParaRPr lang="en-US" sz="146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2" name="Shape 50"/>
          <p:cNvSpPr/>
          <p:nvPr/>
        </p:nvSpPr>
        <p:spPr>
          <a:xfrm>
            <a:off x="7863840" y="4096512"/>
            <a:ext cx="3901440" cy="999744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8432125-A2FC-9150-07D5-1B8CD5819A91}"/>
              </a:ext>
            </a:extLst>
          </p:cNvPr>
          <p:cNvGrpSpPr/>
          <p:nvPr/>
        </p:nvGrpSpPr>
        <p:grpSpPr>
          <a:xfrm>
            <a:off x="7863840" y="4145280"/>
            <a:ext cx="3901440" cy="902208"/>
            <a:chOff x="7863840" y="4120896"/>
            <a:chExt cx="3901440" cy="902208"/>
          </a:xfrm>
        </p:grpSpPr>
        <p:sp>
          <p:nvSpPr>
            <p:cNvPr id="53" name="Text 51"/>
            <p:cNvSpPr/>
            <p:nvPr/>
          </p:nvSpPr>
          <p:spPr>
            <a:xfrm>
              <a:off x="7863840" y="4120896"/>
              <a:ext cx="3901440" cy="536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2,403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7863840" y="4657344"/>
              <a:ext cx="3901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Americans killed</a:t>
              </a:r>
              <a:endParaRPr lang="en-US" sz="146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5" name="Shape 53"/>
          <p:cNvSpPr/>
          <p:nvPr/>
        </p:nvSpPr>
        <p:spPr>
          <a:xfrm>
            <a:off x="7863840" y="5242560"/>
            <a:ext cx="3901440" cy="999744"/>
          </a:xfrm>
          <a:prstGeom prst="rect">
            <a:avLst/>
          </a:prstGeom>
          <a:solidFill>
            <a:srgbClr val="B03030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47620D7-D7D9-A007-38F4-9FABCC637FF4}"/>
              </a:ext>
            </a:extLst>
          </p:cNvPr>
          <p:cNvGrpSpPr/>
          <p:nvPr/>
        </p:nvGrpSpPr>
        <p:grpSpPr>
          <a:xfrm>
            <a:off x="7863840" y="5291328"/>
            <a:ext cx="3901440" cy="902208"/>
            <a:chOff x="7863840" y="5266944"/>
            <a:chExt cx="3901440" cy="902208"/>
          </a:xfrm>
        </p:grpSpPr>
        <p:sp>
          <p:nvSpPr>
            <p:cNvPr id="56" name="Text 54"/>
            <p:cNvSpPr/>
            <p:nvPr/>
          </p:nvSpPr>
          <p:spPr>
            <a:xfrm>
              <a:off x="7863840" y="5266944"/>
              <a:ext cx="3901440" cy="536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1,178</a:t>
              </a:r>
              <a:endParaRPr lang="en-US" sz="4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7863840" y="5803392"/>
              <a:ext cx="3901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467" dirty="0">
                  <a:solidFill>
                    <a:schemeClr val="bg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Americans wounded</a:t>
              </a:r>
              <a:endParaRPr lang="en-US" sz="146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9" name="Text 57"/>
          <p:cNvSpPr/>
          <p:nvPr/>
        </p:nvSpPr>
        <p:spPr>
          <a:xfrm>
            <a:off x="36576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Pear Harbor: A Day That Changed History  |  Slide 12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6DAB5-3220-84A0-6F86-DA41BF6A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06F92C-9EE1-1526-44E0-1E8B2341CA0C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683485-7862-CDFC-D4DD-F941140BC188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Heroes of Pearl Harbor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EAA4D76-C1C0-09E5-A5C9-E5CF897DBF51}"/>
              </a:ext>
            </a:extLst>
          </p:cNvPr>
          <p:cNvSpPr/>
          <p:nvPr/>
        </p:nvSpPr>
        <p:spPr>
          <a:xfrm>
            <a:off x="36576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Pearl Harbor: A Day That Changed History  |  Slide 13 of 20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B2913070-C955-6185-820B-962DD69F4F2B}"/>
              </a:ext>
            </a:extLst>
          </p:cNvPr>
          <p:cNvSpPr/>
          <p:nvPr/>
        </p:nvSpPr>
        <p:spPr>
          <a:xfrm>
            <a:off x="365762" y="1280160"/>
            <a:ext cx="5610639" cy="23164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B6336F5B-FFFF-132F-F1E0-8D5D409D44F9}"/>
              </a:ext>
            </a:extLst>
          </p:cNvPr>
          <p:cNvSpPr/>
          <p:nvPr/>
        </p:nvSpPr>
        <p:spPr>
          <a:xfrm>
            <a:off x="365762" y="1280160"/>
            <a:ext cx="5610639" cy="536448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sz="16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4F1D209-2A3D-8F0A-5CB9-C2DFC7CD2682}"/>
              </a:ext>
            </a:extLst>
          </p:cNvPr>
          <p:cNvSpPr/>
          <p:nvPr/>
        </p:nvSpPr>
        <p:spPr>
          <a:xfrm>
            <a:off x="365762" y="3718560"/>
            <a:ext cx="5610639" cy="23164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E1845098-F2EA-D5BA-A9E5-DB2EC90DBB5F}"/>
              </a:ext>
            </a:extLst>
          </p:cNvPr>
          <p:cNvSpPr/>
          <p:nvPr/>
        </p:nvSpPr>
        <p:spPr>
          <a:xfrm>
            <a:off x="365762" y="3718560"/>
            <a:ext cx="5610639" cy="536448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CADCCC2-488A-DC0F-D3D3-AE2C8E99C2A8}"/>
              </a:ext>
            </a:extLst>
          </p:cNvPr>
          <p:cNvSpPr/>
          <p:nvPr/>
        </p:nvSpPr>
        <p:spPr>
          <a:xfrm>
            <a:off x="6225763" y="1280160"/>
            <a:ext cx="5610639" cy="23164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D46F9E3E-CF2F-E5D4-22A3-FE5AC0B4243C}"/>
              </a:ext>
            </a:extLst>
          </p:cNvPr>
          <p:cNvSpPr/>
          <p:nvPr/>
        </p:nvSpPr>
        <p:spPr>
          <a:xfrm>
            <a:off x="6225763" y="1280160"/>
            <a:ext cx="5610639" cy="536448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595F3BBE-2525-03B5-7430-75E756930282}"/>
              </a:ext>
            </a:extLst>
          </p:cNvPr>
          <p:cNvSpPr/>
          <p:nvPr/>
        </p:nvSpPr>
        <p:spPr>
          <a:xfrm>
            <a:off x="6225763" y="3718560"/>
            <a:ext cx="5610639" cy="23164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0BE790BE-D220-5FBA-0861-FFA342608811}"/>
              </a:ext>
            </a:extLst>
          </p:cNvPr>
          <p:cNvSpPr/>
          <p:nvPr/>
        </p:nvSpPr>
        <p:spPr>
          <a:xfrm>
            <a:off x="6225763" y="3718560"/>
            <a:ext cx="5610639" cy="536448"/>
          </a:xfrm>
          <a:prstGeom prst="rect">
            <a:avLst/>
          </a:prstGeom>
          <a:solidFill>
            <a:srgbClr val="1A2B4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24F51E-1C9F-1F2E-6F8A-663FBA710D52}"/>
              </a:ext>
            </a:extLst>
          </p:cNvPr>
          <p:cNvSpPr txBox="1"/>
          <p:nvPr/>
        </p:nvSpPr>
        <p:spPr>
          <a:xfrm>
            <a:off x="401544" y="1363719"/>
            <a:ext cx="557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Doris Miller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8A8E31-2249-EE09-19A3-0905E32F0808}"/>
              </a:ext>
            </a:extLst>
          </p:cNvPr>
          <p:cNvSpPr txBox="1"/>
          <p:nvPr/>
        </p:nvSpPr>
        <p:spPr>
          <a:xfrm>
            <a:off x="6225764" y="1363719"/>
            <a:ext cx="557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Captain Mervyn Bennion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E875F3-4B4D-6E07-008A-365CA66E92CE}"/>
              </a:ext>
            </a:extLst>
          </p:cNvPr>
          <p:cNvSpPr txBox="1"/>
          <p:nvPr/>
        </p:nvSpPr>
        <p:spPr>
          <a:xfrm>
            <a:off x="401544" y="3823471"/>
            <a:ext cx="557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Diplomatic Failures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537930-29F7-783C-CC59-CB4DD2D470DE}"/>
              </a:ext>
            </a:extLst>
          </p:cNvPr>
          <p:cNvSpPr txBox="1"/>
          <p:nvPr/>
        </p:nvSpPr>
        <p:spPr>
          <a:xfrm>
            <a:off x="6225764" y="3823471"/>
            <a:ext cx="5574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Japan's Decision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E338B8-D382-8256-CFC8-4E42664F024E}"/>
              </a:ext>
            </a:extLst>
          </p:cNvPr>
          <p:cNvGrpSpPr/>
          <p:nvPr/>
        </p:nvGrpSpPr>
        <p:grpSpPr>
          <a:xfrm>
            <a:off x="544720" y="2006455"/>
            <a:ext cx="5232400" cy="1236617"/>
            <a:chOff x="487680" y="1998710"/>
            <a:chExt cx="5232400" cy="123661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DA146A-3C4F-836F-F95D-4A0C32FA67CA}"/>
                </a:ext>
              </a:extLst>
            </p:cNvPr>
            <p:cNvSpPr txBox="1"/>
            <p:nvPr/>
          </p:nvSpPr>
          <p:spPr>
            <a:xfrm>
              <a:off x="487680" y="1998710"/>
              <a:ext cx="52324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Messman, USS West Virginia</a:t>
              </a:r>
              <a:endParaRPr lang="en-US" sz="1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1693E6F-C57D-5979-D8A2-3B3FC08B3A61}"/>
                </a:ext>
              </a:extLst>
            </p:cNvPr>
            <p:cNvSpPr txBox="1"/>
            <p:nvPr/>
          </p:nvSpPr>
          <p:spPr>
            <a:xfrm>
              <a:off x="487680" y="2404330"/>
              <a:ext cx="508138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200" dirty="0">
                  <a:latin typeface="Poppins" panose="00000500000000000000" pitchFamily="2" charset="0"/>
                  <a:cs typeface="Poppins" panose="00000500000000000000" pitchFamily="2" charset="0"/>
                </a:rPr>
                <a:t>An African-American cook with no gunnery training, Miller manned an anti-aircraft gun and shot down enemy planes. He was the first Black American to receive the Navy Cross — a true everyday hero.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79A003-7998-75C1-933B-07C4F2EADF70}"/>
              </a:ext>
            </a:extLst>
          </p:cNvPr>
          <p:cNvGrpSpPr/>
          <p:nvPr/>
        </p:nvGrpSpPr>
        <p:grpSpPr>
          <a:xfrm>
            <a:off x="6414880" y="1992290"/>
            <a:ext cx="5232400" cy="1051951"/>
            <a:chOff x="487680" y="1998710"/>
            <a:chExt cx="5232400" cy="105195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EF7BE7-4E1D-2975-7B34-47DAD24F1C02}"/>
                </a:ext>
              </a:extLst>
            </p:cNvPr>
            <p:cNvSpPr txBox="1"/>
            <p:nvPr/>
          </p:nvSpPr>
          <p:spPr>
            <a:xfrm>
              <a:off x="487680" y="1998710"/>
              <a:ext cx="52324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Commander, USS West Virginia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EE43F72-E73C-5A64-95CF-4407969AB26A}"/>
                </a:ext>
              </a:extLst>
            </p:cNvPr>
            <p:cNvSpPr txBox="1"/>
            <p:nvPr/>
          </p:nvSpPr>
          <p:spPr>
            <a:xfrm>
              <a:off x="487680" y="2404330"/>
              <a:ext cx="50813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200" dirty="0">
                  <a:latin typeface="Poppins" panose="00000500000000000000" pitchFamily="2" charset="0"/>
                  <a:cs typeface="Poppins" panose="00000500000000000000" pitchFamily="2" charset="0"/>
                </a:rPr>
                <a:t>Mortally wounded on the bridge, he refused to leave his post and kept directing his crew until the very end. Awarded the Medal of Honor posthumously.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71F2A8E-89CE-4E6C-4A26-21C2AEE8C4C1}"/>
              </a:ext>
            </a:extLst>
          </p:cNvPr>
          <p:cNvGrpSpPr/>
          <p:nvPr/>
        </p:nvGrpSpPr>
        <p:grpSpPr>
          <a:xfrm>
            <a:off x="544720" y="4568020"/>
            <a:ext cx="5232400" cy="1051951"/>
            <a:chOff x="487680" y="1998710"/>
            <a:chExt cx="5232400" cy="105195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557370B-36A2-DDB4-5208-4EC32ACAC1B0}"/>
                </a:ext>
              </a:extLst>
            </p:cNvPr>
            <p:cNvSpPr txBox="1"/>
            <p:nvPr/>
          </p:nvSpPr>
          <p:spPr>
            <a:xfrm>
              <a:off x="487680" y="1998710"/>
              <a:ext cx="52324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USS Oklahoma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9A67775-46A9-AC6B-CB9A-872894F967F1}"/>
                </a:ext>
              </a:extLst>
            </p:cNvPr>
            <p:cNvSpPr txBox="1"/>
            <p:nvPr/>
          </p:nvSpPr>
          <p:spPr>
            <a:xfrm>
              <a:off x="487680" y="2404330"/>
              <a:ext cx="50813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200" dirty="0">
                  <a:latin typeface="Poppins" panose="00000500000000000000" pitchFamily="2" charset="0"/>
                  <a:cs typeface="Poppins" panose="00000500000000000000" pitchFamily="2" charset="0"/>
                </a:rPr>
                <a:t>Held a flashlight to help trapped sailors escape the capsizing ship, knowing he could not save himself. Awarded the Medal of Honor for his selfless act.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5A0DE3-2C59-8D72-A180-11208DC0AC11}"/>
              </a:ext>
            </a:extLst>
          </p:cNvPr>
          <p:cNvGrpSpPr/>
          <p:nvPr/>
        </p:nvGrpSpPr>
        <p:grpSpPr>
          <a:xfrm>
            <a:off x="6414880" y="4553855"/>
            <a:ext cx="5232400" cy="1051951"/>
            <a:chOff x="487680" y="1998710"/>
            <a:chExt cx="5232400" cy="105195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7ADE99A-6F8F-7FF7-5AF0-5200B1A598B8}"/>
                </a:ext>
              </a:extLst>
            </p:cNvPr>
            <p:cNvSpPr txBox="1"/>
            <p:nvPr/>
          </p:nvSpPr>
          <p:spPr>
            <a:xfrm>
              <a:off x="487680" y="1998710"/>
              <a:ext cx="52324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USS Arizona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427F41D-F686-27DA-CF44-3AA191AEF7C9}"/>
                </a:ext>
              </a:extLst>
            </p:cNvPr>
            <p:cNvSpPr txBox="1"/>
            <p:nvPr/>
          </p:nvSpPr>
          <p:spPr>
            <a:xfrm>
              <a:off x="487680" y="2404330"/>
              <a:ext cx="50813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sz="1200" dirty="0">
                  <a:latin typeface="Poppins" panose="00000500000000000000" pitchFamily="2" charset="0"/>
                  <a:cs typeface="Poppins" panose="00000500000000000000" pitchFamily="2" charset="0"/>
                </a:rPr>
                <a:t>Organized rescue operations on the burning Arizona under enemy fire. His calm leadership saved many lives. Awarded the Medal of Honor.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318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Japan's Losses &amp; What They Missed</a:t>
            </a:r>
          </a:p>
        </p:txBody>
      </p:sp>
      <p:sp>
        <p:nvSpPr>
          <p:cNvPr id="6" name="Text 4"/>
          <p:cNvSpPr/>
          <p:nvPr/>
        </p:nvSpPr>
        <p:spPr>
          <a:xfrm>
            <a:off x="792480" y="1889760"/>
            <a:ext cx="536448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78" indent="-457178">
              <a:buSzPct val="100000"/>
              <a:buChar char="•"/>
            </a:pP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14400" y="4608576"/>
            <a:ext cx="5120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6156960" y="1280160"/>
            <a:ext cx="5669280" cy="499872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endParaRPr lang="en-IN" sz="32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67194D-2EA8-C57B-470F-51AA020902E9}"/>
              </a:ext>
            </a:extLst>
          </p:cNvPr>
          <p:cNvGrpSpPr/>
          <p:nvPr/>
        </p:nvGrpSpPr>
        <p:grpSpPr>
          <a:xfrm>
            <a:off x="6309360" y="1420368"/>
            <a:ext cx="5364480" cy="4718304"/>
            <a:chOff x="6827520" y="1402080"/>
            <a:chExt cx="4876800" cy="4718304"/>
          </a:xfrm>
        </p:grpSpPr>
        <p:sp>
          <p:nvSpPr>
            <p:cNvPr id="11" name="Text 9"/>
            <p:cNvSpPr/>
            <p:nvPr/>
          </p:nvSpPr>
          <p:spPr>
            <a:xfrm>
              <a:off x="6827520" y="1402080"/>
              <a:ext cx="487680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867" b="1" dirty="0"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Also Not Destroyed</a:t>
              </a:r>
              <a:endParaRPr lang="en-US" sz="1867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827520" y="1950720"/>
              <a:ext cx="4876800" cy="416966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Japan also missed these critical targets: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Oil storage tanks (enough for months of war)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Repair shipyards and dry docks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Submarine base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Without oil and working repair facilities, many of the damaged ships could NEVER have been repaired and returned to battle.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i="1" dirty="0"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Yamamoto reportedly said: "I fear all we have done is awaken a sleeping giant and fill him with a terrible resolve.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3" name="Shape 1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E47655-D66B-FE37-9A29-41CE3F51873A}"/>
              </a:ext>
            </a:extLst>
          </p:cNvPr>
          <p:cNvGrpSpPr/>
          <p:nvPr/>
        </p:nvGrpSpPr>
        <p:grpSpPr>
          <a:xfrm>
            <a:off x="487680" y="1525892"/>
            <a:ext cx="5364480" cy="4435997"/>
            <a:chOff x="792480" y="1477123"/>
            <a:chExt cx="5364480" cy="4435997"/>
          </a:xfrm>
        </p:grpSpPr>
        <p:sp>
          <p:nvSpPr>
            <p:cNvPr id="7" name="Shape 5"/>
            <p:cNvSpPr/>
            <p:nvPr/>
          </p:nvSpPr>
          <p:spPr>
            <a:xfrm>
              <a:off x="792480" y="4023360"/>
              <a:ext cx="5364480" cy="1889760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rgbClr val="C8862A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FEF52B9-4B6F-86F8-8018-1D7122D6B3FF}"/>
                </a:ext>
              </a:extLst>
            </p:cNvPr>
            <p:cNvGrpSpPr/>
            <p:nvPr/>
          </p:nvGrpSpPr>
          <p:grpSpPr>
            <a:xfrm>
              <a:off x="792480" y="1477123"/>
              <a:ext cx="5364480" cy="2253910"/>
              <a:chOff x="792480" y="1341120"/>
              <a:chExt cx="5364480" cy="2253910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792480" y="1341120"/>
                <a:ext cx="5364480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24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Japan's Cost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4EF4AC-524C-B1BE-3991-FDC833D8D196}"/>
                  </a:ext>
                </a:extLst>
              </p:cNvPr>
              <p:cNvSpPr txBox="1"/>
              <p:nvPr/>
            </p:nvSpPr>
            <p:spPr>
              <a:xfrm>
                <a:off x="792480" y="1883664"/>
                <a:ext cx="5364480" cy="1711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29 aircraft shot down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5 midget submarines destroyed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64 Japanese sailors killed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1 Japanese sailor captured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B4707DE-7CB6-10BD-564B-0DB27F80DD75}"/>
                </a:ext>
              </a:extLst>
            </p:cNvPr>
            <p:cNvGrpSpPr/>
            <p:nvPr/>
          </p:nvGrpSpPr>
          <p:grpSpPr>
            <a:xfrm>
              <a:off x="914400" y="4361164"/>
              <a:ext cx="5120640" cy="1214152"/>
              <a:chOff x="969010" y="4268069"/>
              <a:chExt cx="5120640" cy="121415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969010" y="4268069"/>
                <a:ext cx="5120640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Japan's BIG Mistake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6AF613-64D2-17A4-5BBF-6BC52F991C46}"/>
                  </a:ext>
                </a:extLst>
              </p:cNvPr>
              <p:cNvSpPr txBox="1"/>
              <p:nvPr/>
            </p:nvSpPr>
            <p:spPr>
              <a:xfrm>
                <a:off x="1050925" y="4743557"/>
                <a:ext cx="495681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The US aircraft carriers were NOT at Pearl Harbor! They were at sea. Japan failed to destroy America's most powerful warships — a fatal strategic error.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FDR's 'Day of Infamy' Speech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853184"/>
            <a:ext cx="73152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67200" y="4535424"/>
            <a:ext cx="755904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733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110740-0930-F554-D175-51583F4BAE48}"/>
              </a:ext>
            </a:extLst>
          </p:cNvPr>
          <p:cNvGrpSpPr/>
          <p:nvPr/>
        </p:nvGrpSpPr>
        <p:grpSpPr>
          <a:xfrm>
            <a:off x="396240" y="1220825"/>
            <a:ext cx="11399520" cy="5035296"/>
            <a:chOff x="487680" y="1220825"/>
            <a:chExt cx="11399520" cy="503529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AB8EFC4-C33F-7D33-1623-B1D0F766C809}"/>
                </a:ext>
              </a:extLst>
            </p:cNvPr>
            <p:cNvGrpSpPr/>
            <p:nvPr/>
          </p:nvGrpSpPr>
          <p:grpSpPr>
            <a:xfrm>
              <a:off x="487680" y="1220825"/>
              <a:ext cx="3413760" cy="5035296"/>
              <a:chOff x="487680" y="1219200"/>
              <a:chExt cx="3413760" cy="5035296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87680" y="1219200"/>
                <a:ext cx="3413760" cy="4450080"/>
              </a:xfrm>
              <a:prstGeom prst="rect">
                <a:avLst/>
              </a:prstGeom>
              <a:solidFill>
                <a:schemeClr val="accent4">
                  <a:lumMod val="25000"/>
                </a:schemeClr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8AF05E0-F822-3D14-C899-6752008E7CAE}"/>
                  </a:ext>
                </a:extLst>
              </p:cNvPr>
              <p:cNvGrpSpPr/>
              <p:nvPr/>
            </p:nvGrpSpPr>
            <p:grpSpPr>
              <a:xfrm>
                <a:off x="487680" y="1341120"/>
                <a:ext cx="3413760" cy="4913376"/>
                <a:chOff x="487680" y="1341120"/>
                <a:chExt cx="3413760" cy="4913376"/>
              </a:xfrm>
            </p:grpSpPr>
            <p:sp>
              <p:nvSpPr>
                <p:cNvPr id="5" name="Shape 3"/>
                <p:cNvSpPr/>
                <p:nvPr/>
              </p:nvSpPr>
              <p:spPr>
                <a:xfrm>
                  <a:off x="609600" y="1341120"/>
                  <a:ext cx="3169920" cy="4206240"/>
                </a:xfrm>
                <a:prstGeom prst="rect">
                  <a:avLst/>
                </a:prstGeom>
                <a:solidFill>
                  <a:schemeClr val="accent4">
                    <a:lumMod val="25000"/>
                  </a:schemeClr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en-IN" sz="3200"/>
                </a:p>
              </p:txBody>
            </p:sp>
            <p:sp>
              <p:nvSpPr>
                <p:cNvPr id="8" name="Text 6"/>
                <p:cNvSpPr/>
                <p:nvPr/>
              </p:nvSpPr>
              <p:spPr>
                <a:xfrm>
                  <a:off x="487680" y="5185623"/>
                  <a:ext cx="3413760" cy="31699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endParaRPr lang="en-US" sz="105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9" name="Shape 7"/>
                <p:cNvSpPr/>
                <p:nvPr/>
              </p:nvSpPr>
              <p:spPr>
                <a:xfrm>
                  <a:off x="487680" y="5669280"/>
                  <a:ext cx="3413760" cy="585216"/>
                </a:xfrm>
                <a:prstGeom prst="rect">
                  <a:avLst/>
                </a:prstGeom>
                <a:solidFill>
                  <a:srgbClr val="C8862A"/>
                </a:solidFill>
                <a:ln w="12700">
                  <a:solidFill>
                    <a:srgbClr val="C8862A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3200"/>
                </a:p>
              </p:txBody>
            </p:sp>
            <p:sp>
              <p:nvSpPr>
                <p:cNvPr id="10" name="Text 8"/>
                <p:cNvSpPr/>
                <p:nvPr/>
              </p:nvSpPr>
              <p:spPr>
                <a:xfrm>
                  <a:off x="512064" y="5693664"/>
                  <a:ext cx="3364992" cy="51206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333" b="1" dirty="0">
                      <a:solidFill>
                        <a:schemeClr val="bg1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December 8, 1941</a:t>
                  </a:r>
                  <a:endParaRPr lang="en-US" sz="1333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  <a:p>
                  <a:pPr algn="ctr"/>
                  <a:r>
                    <a:rPr lang="en-US" sz="1333" b="1" dirty="0">
                      <a:solidFill>
                        <a:schemeClr val="bg1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Address to Congress</a:t>
                  </a:r>
                  <a:endParaRPr lang="en-US" sz="1333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B766DD27-96BF-F530-B4C6-6B312E86F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23899" y="1381843"/>
                  <a:ext cx="2870201" cy="3637115"/>
                </a:xfrm>
                <a:prstGeom prst="rect">
                  <a:avLst/>
                </a:prstGeom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3BCF17-372D-DB67-A442-96B471948598}"/>
                    </a:ext>
                  </a:extLst>
                </p:cNvPr>
                <p:cNvSpPr txBox="1"/>
                <p:nvPr/>
              </p:nvSpPr>
              <p:spPr>
                <a:xfrm>
                  <a:off x="609599" y="5144064"/>
                  <a:ext cx="316992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000" i="1" dirty="0">
                      <a:solidFill>
                        <a:schemeClr val="bg1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President Franklin D. Roosevelt</a:t>
                  </a:r>
                  <a:endParaRPr lang="en-US" sz="10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  <a:p>
                  <a:pPr algn="ctr"/>
                  <a:r>
                    <a:rPr lang="en-US" sz="1000" i="1" dirty="0">
                      <a:solidFill>
                        <a:schemeClr val="bg1"/>
                      </a:solidFill>
                      <a:latin typeface="Poppins" panose="00000500000000000000" pitchFamily="2" charset="0"/>
                      <a:ea typeface="Calibri" pitchFamily="34" charset="-122"/>
                      <a:cs typeface="Poppins" panose="00000500000000000000" pitchFamily="2" charset="0"/>
                    </a:rPr>
                    <a:t>32nd President of the USA</a:t>
                  </a:r>
                  <a:endParaRPr lang="en-US" sz="10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5B28ED-2F99-E5DD-EC34-4AD89C7A27D8}"/>
                </a:ext>
              </a:extLst>
            </p:cNvPr>
            <p:cNvGrpSpPr/>
            <p:nvPr/>
          </p:nvGrpSpPr>
          <p:grpSpPr>
            <a:xfrm>
              <a:off x="4297680" y="1239774"/>
              <a:ext cx="7589520" cy="4997398"/>
              <a:chOff x="4297680" y="1260348"/>
              <a:chExt cx="7589520" cy="4997398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8717F5A-7FF0-D6F9-7DCC-93D831030893}"/>
                  </a:ext>
                </a:extLst>
              </p:cNvPr>
              <p:cNvGrpSpPr/>
              <p:nvPr/>
            </p:nvGrpSpPr>
            <p:grpSpPr>
              <a:xfrm>
                <a:off x="4297680" y="1260348"/>
                <a:ext cx="7559040" cy="2857900"/>
                <a:chOff x="4297680" y="1260348"/>
                <a:chExt cx="7559040" cy="2857900"/>
              </a:xfrm>
            </p:grpSpPr>
            <p:sp>
              <p:nvSpPr>
                <p:cNvPr id="11" name="Shape 9"/>
                <p:cNvSpPr/>
                <p:nvPr/>
              </p:nvSpPr>
              <p:spPr>
                <a:xfrm>
                  <a:off x="4297680" y="1260348"/>
                  <a:ext cx="7559040" cy="2857900"/>
                </a:xfrm>
                <a:prstGeom prst="rect">
                  <a:avLst/>
                </a:prstGeom>
                <a:solidFill>
                  <a:srgbClr val="2E4A6E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en-IN" sz="3200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F31D3E0-FD6E-3ED8-49AF-8A4915BCA807}"/>
                    </a:ext>
                  </a:extLst>
                </p:cNvPr>
                <p:cNvGrpSpPr/>
                <p:nvPr/>
              </p:nvGrpSpPr>
              <p:grpSpPr>
                <a:xfrm>
                  <a:off x="4524374" y="1484358"/>
                  <a:ext cx="7332346" cy="2409880"/>
                  <a:chOff x="4524374" y="1341120"/>
                  <a:chExt cx="7332346" cy="1788416"/>
                </a:xfrm>
              </p:grpSpPr>
              <p:sp>
                <p:nvSpPr>
                  <p:cNvPr id="12" name="Text 10"/>
                  <p:cNvSpPr/>
                  <p:nvPr/>
                </p:nvSpPr>
                <p:spPr>
                  <a:xfrm>
                    <a:off x="4541520" y="1341120"/>
                    <a:ext cx="7315200" cy="42672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r>
                      <a:rPr lang="en-US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Georgia" pitchFamily="34" charset="-122"/>
                        <a:cs typeface="Poppins" panose="00000500000000000000" pitchFamily="2" charset="0"/>
                      </a:rPr>
                      <a:t>Address to Congress — December 8, 1941</a:t>
                    </a:r>
                    <a:endParaRPr lang="en-US" dirty="0">
                      <a:solidFill>
                        <a:schemeClr val="bg1"/>
                      </a:solidFill>
                      <a:latin typeface="Poppins" panose="00000500000000000000" pitchFamily="2" charset="0"/>
                      <a:cs typeface="Poppins" panose="00000500000000000000" pitchFamily="2" charset="0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94C6949C-8D5B-84C8-B6C9-85449D67A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524374" y="1856740"/>
                    <a:ext cx="7058025" cy="127279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Georgia" pitchFamily="34" charset="-122"/>
                        <a:cs typeface="Poppins" panose="00000500000000000000" pitchFamily="2" charset="0"/>
                      </a:rPr>
                      <a:t>"Yesterday, December 7, 1941 — a date which will live in infamy — the United States of America was suddenly and deliberately attacked by naval and air forces of the Empire of Japan..."</a:t>
                    </a:r>
                    <a:endParaRPr lang="en-US" dirty="0">
                      <a:solidFill>
                        <a:schemeClr val="bg1"/>
                      </a:solidFill>
                      <a:latin typeface="Poppins" panose="00000500000000000000" pitchFamily="2" charset="0"/>
                      <a:cs typeface="Poppins" panose="00000500000000000000" pitchFamily="2" charset="0"/>
                    </a:endParaRPr>
                  </a:p>
                </p:txBody>
              </p:sp>
            </p:grp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537A8B-28EE-280A-AE10-D0DB1A5914DD}"/>
                  </a:ext>
                </a:extLst>
              </p:cNvPr>
              <p:cNvSpPr txBox="1"/>
              <p:nvPr/>
            </p:nvSpPr>
            <p:spPr>
              <a:xfrm>
                <a:off x="4297680" y="4261302"/>
                <a:ext cx="7589520" cy="199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What happened after the speech?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Congress voted to declare war in just 33 minutes!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Only ONE member of Congress voted against the war.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Three days later, Germany and Italy declared war on the USA.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America was now fully committed to World War II.</a:t>
                </a:r>
                <a:endParaRPr lang="en-US" sz="1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Quellen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72640"/>
            <a:ext cx="10728960" cy="3779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3D9D07-2B05-679B-330F-C2FC52AAB94F}"/>
              </a:ext>
            </a:extLst>
          </p:cNvPr>
          <p:cNvGrpSpPr/>
          <p:nvPr/>
        </p:nvGrpSpPr>
        <p:grpSpPr>
          <a:xfrm>
            <a:off x="487680" y="1280160"/>
            <a:ext cx="11216640" cy="4754880"/>
            <a:chOff x="487680" y="1280160"/>
            <a:chExt cx="11216640" cy="4754880"/>
          </a:xfrm>
        </p:grpSpPr>
        <p:sp>
          <p:nvSpPr>
            <p:cNvPr id="4" name="Shape 2"/>
            <p:cNvSpPr/>
            <p:nvPr/>
          </p:nvSpPr>
          <p:spPr>
            <a:xfrm>
              <a:off x="487680" y="1280160"/>
              <a:ext cx="11216640" cy="475488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7" name="Shape 5"/>
            <p:cNvSpPr/>
            <p:nvPr/>
          </p:nvSpPr>
          <p:spPr>
            <a:xfrm>
              <a:off x="487680" y="5681472"/>
              <a:ext cx="11216640" cy="341376"/>
            </a:xfrm>
            <a:prstGeom prst="rect">
              <a:avLst/>
            </a:prstGeom>
            <a:solidFill>
              <a:srgbClr val="C8862A"/>
            </a:solidFill>
            <a:ln w="12700">
              <a:solidFill>
                <a:srgbClr val="C8862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5917BC-EB0A-7B8D-0AB7-434DD6DB55A3}"/>
                </a:ext>
              </a:extLst>
            </p:cNvPr>
            <p:cNvGrpSpPr/>
            <p:nvPr/>
          </p:nvGrpSpPr>
          <p:grpSpPr>
            <a:xfrm>
              <a:off x="609600" y="1373475"/>
              <a:ext cx="10972800" cy="4141059"/>
              <a:chOff x="731520" y="1373475"/>
              <a:chExt cx="10972800" cy="4141059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731520" y="1373475"/>
                <a:ext cx="10728960" cy="51206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20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After Pearl Harbor — A Controversial Decision</a:t>
                </a:r>
                <a:endParaRPr lang="en-US" sz="20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6CF65B-88C9-E730-91B0-C85C24AFA271}"/>
                  </a:ext>
                </a:extLst>
              </p:cNvPr>
              <p:cNvSpPr txBox="1"/>
              <p:nvPr/>
            </p:nvSpPr>
            <p:spPr>
              <a:xfrm>
                <a:off x="731520" y="1975104"/>
                <a:ext cx="10972800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Following the attack, fear and suspicion spread across America — especially toward Japanese-Americans living in the USA.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President Roosevelt signed Executive Order 9066 in February 1942.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About 120,000 Japanese-Americans — nearly two-thirds of whom were US citizens born in America — were forced into internment camps.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b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They lost their homes, businesses, and freedom — not because of anything they did, but simply because of their heritage.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This is now considered one of the most serious civil rights violations in American history.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i="1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In 1988, the US government formally apologized and paid reparations to surviving internees.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7" name="Text 5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467" b="1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4632960" cy="3291840"/>
          </a:xfrm>
          <a:prstGeom prst="rect">
            <a:avLst/>
          </a:prstGeom>
          <a:solidFill>
            <a:srgbClr val="2E4A6E"/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9" name="Shape 7"/>
          <p:cNvSpPr/>
          <p:nvPr/>
        </p:nvSpPr>
        <p:spPr>
          <a:xfrm>
            <a:off x="609600" y="1341120"/>
            <a:ext cx="4389120" cy="3048000"/>
          </a:xfrm>
          <a:prstGeom prst="rect">
            <a:avLst/>
          </a:prstGeom>
          <a:solidFill>
            <a:srgbClr val="2E4A6E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Shape 8"/>
          <p:cNvSpPr/>
          <p:nvPr/>
        </p:nvSpPr>
        <p:spPr>
          <a:xfrm>
            <a:off x="2340864" y="2188464"/>
            <a:ext cx="926592" cy="926592"/>
          </a:xfrm>
          <a:prstGeom prst="ellipse">
            <a:avLst/>
          </a:prstGeom>
          <a:solidFill>
            <a:srgbClr val="2E4A6E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Shape 9"/>
          <p:cNvSpPr/>
          <p:nvPr/>
        </p:nvSpPr>
        <p:spPr>
          <a:xfrm>
            <a:off x="2633472" y="2481072"/>
            <a:ext cx="341376" cy="341376"/>
          </a:xfrm>
          <a:prstGeom prst="ellipse">
            <a:avLst/>
          </a:prstGeom>
          <a:solidFill>
            <a:srgbClr val="C8862A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2" name="Text 10"/>
          <p:cNvSpPr/>
          <p:nvPr/>
        </p:nvSpPr>
        <p:spPr>
          <a:xfrm>
            <a:off x="487680" y="4028440"/>
            <a:ext cx="4632960" cy="344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USS Arizona Memorial, Pearl Harbor, Hawaii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4EA024-2EE7-64C4-CBEB-0132307BE0A0}"/>
              </a:ext>
            </a:extLst>
          </p:cNvPr>
          <p:cNvGrpSpPr/>
          <p:nvPr/>
        </p:nvGrpSpPr>
        <p:grpSpPr>
          <a:xfrm>
            <a:off x="487680" y="4608576"/>
            <a:ext cx="4632960" cy="1645920"/>
            <a:chOff x="487680" y="4608576"/>
            <a:chExt cx="4632960" cy="1645920"/>
          </a:xfrm>
        </p:grpSpPr>
        <p:sp>
          <p:nvSpPr>
            <p:cNvPr id="13" name="Shape 11"/>
            <p:cNvSpPr/>
            <p:nvPr/>
          </p:nvSpPr>
          <p:spPr>
            <a:xfrm>
              <a:off x="487680" y="4608576"/>
              <a:ext cx="4632960" cy="1645920"/>
            </a:xfrm>
            <a:prstGeom prst="rect">
              <a:avLst/>
            </a:prstGeom>
            <a:solidFill>
              <a:srgbClr val="2E4A6E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4" name="Text 12"/>
            <p:cNvSpPr/>
            <p:nvPr/>
          </p:nvSpPr>
          <p:spPr>
            <a:xfrm>
              <a:off x="676910" y="4718304"/>
              <a:ext cx="4254500" cy="1402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"Here lie our fallen comrades may their sacrifice never be forgotten."</a:t>
              </a:r>
              <a:endPara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5" name="Shape 13"/>
          <p:cNvSpPr/>
          <p:nvPr/>
        </p:nvSpPr>
        <p:spPr>
          <a:xfrm>
            <a:off x="5486400" y="1219200"/>
            <a:ext cx="6339840" cy="4998720"/>
          </a:xfrm>
          <a:prstGeom prst="rect">
            <a:avLst/>
          </a:prstGeom>
          <a:solidFill>
            <a:srgbClr val="2E4A6E">
              <a:alpha val="7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6" name="Text 14"/>
          <p:cNvSpPr/>
          <p:nvPr/>
        </p:nvSpPr>
        <p:spPr>
          <a:xfrm>
            <a:off x="5608320" y="1365504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The USS Arizona Memorial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8320" y="2011680"/>
            <a:ext cx="6096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Built in 1962, the memorial sits directly above the sunken battleship in Pearl Harbor, Hawaii.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178" indent="-457178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Names of all 1,177 sailors who died on the Arizona are carved into a marble wall inside the memorial.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178" indent="-457178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ship still holds the remains of those who could not be recovered.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178" indent="-457178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Oil still seeps from the ship — called the 'Tears of the Arizona.'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178" indent="-457178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Over 1.8 million people visit each year.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December 7 is National Pearl Harbor Remembrance Day in the United States.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7BC8AD-72F1-09DB-F9B0-AC7C74BBAA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1" y="1352804"/>
            <a:ext cx="4389120" cy="26761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Massenmedium</a:t>
            </a:r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 </a:t>
            </a:r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Fotografie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6339840" cy="4267200"/>
          </a:xfrm>
          <a:prstGeom prst="rect">
            <a:avLst/>
          </a:prstGeom>
          <a:solidFill>
            <a:srgbClr val="2E4A6E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6096000" cy="4023360"/>
          </a:xfrm>
          <a:prstGeom prst="rect">
            <a:avLst/>
          </a:prstGeom>
          <a:solidFill>
            <a:srgbClr val="2E4A6E"/>
          </a:solidFill>
          <a:ln w="12700">
            <a:solidFill>
              <a:srgbClr val="C886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9" name="Shape 7"/>
          <p:cNvSpPr/>
          <p:nvPr/>
        </p:nvSpPr>
        <p:spPr>
          <a:xfrm>
            <a:off x="487680" y="5486400"/>
            <a:ext cx="6339840" cy="609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487680" y="5559552"/>
            <a:ext cx="6278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Daguerrotypie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: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Fotografie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auf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eine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Glatte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Metalloberfläche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anfangs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versilberte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Kupferplatten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93280" y="1280160"/>
            <a:ext cx="4632960" cy="499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67" dirty="0"/>
          </a:p>
        </p:txBody>
      </p:sp>
      <p:sp>
        <p:nvSpPr>
          <p:cNvPr id="13" name="Text 11"/>
          <p:cNvSpPr/>
          <p:nvPr/>
        </p:nvSpPr>
        <p:spPr>
          <a:xfrm>
            <a:off x="36576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Pearl Harbor: A Day That Changed History  |  Slide 16 of 20</a:t>
            </a:r>
          </a:p>
        </p:txBody>
      </p:sp>
      <p:sp>
        <p:nvSpPr>
          <p:cNvPr id="8" name="Text 6"/>
          <p:cNvSpPr/>
          <p:nvPr/>
        </p:nvSpPr>
        <p:spPr>
          <a:xfrm>
            <a:off x="829056" y="4856084"/>
            <a:ext cx="254580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Samuel Morse 1845</a:t>
            </a:r>
          </a:p>
          <a:p>
            <a:pPr algn="ctr"/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Daguerrotypie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23E52A-B4A6-1D44-26C5-93F0C0657566}"/>
              </a:ext>
            </a:extLst>
          </p:cNvPr>
          <p:cNvSpPr txBox="1"/>
          <p:nvPr/>
        </p:nvSpPr>
        <p:spPr>
          <a:xfrm>
            <a:off x="7120128" y="1219200"/>
            <a:ext cx="487535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1839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Erfindung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Daguerreotypie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erste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kommerziell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nutzbares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Fotografie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Verfahren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Gute,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detailreiche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Bilder,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aber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teuer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wegen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der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Silberbeschichtung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Ab ca 1860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Visitenformat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(Carte de Visite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oder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CdV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Fotografie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auf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Karton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ca 6x9 cm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Auch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Visitkarton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genannt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Erfinder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unbekannt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am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ehesten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André Adolphe-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Eugéne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Disdéri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Schon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deutlich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günstigere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Fotografie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Ende 19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Jhd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Brachten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Erfindungen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der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Rollfilm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(Kodak)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noch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weitere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Verbreitung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Fotografie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wird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zum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populären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Medium für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weite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Teile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des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Bürgertums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 descr="Der Telegrafen-Erfinder Samuel Morse um 1845, er machte die Daguerreotypie in den USA bekannt; farbgetreue Reproduktion einer durch Goldtonung veredelten Daguerreotypie hinter Passepartout mit Zierrahmen">
            <a:extLst>
              <a:ext uri="{FF2B5EF4-FFF2-40B4-BE49-F238E27FC236}">
                <a16:creationId xmlns:a16="http://schemas.microsoft.com/office/drawing/2014/main" id="{6D48397C-03A1-6D26-2AD2-E568CDD5B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78" y="1395265"/>
            <a:ext cx="2987591" cy="341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33217865-C642-C376-EAFF-68B51CAFEAE5}"/>
              </a:ext>
            </a:extLst>
          </p:cNvPr>
          <p:cNvSpPr/>
          <p:nvPr/>
        </p:nvSpPr>
        <p:spPr>
          <a:xfrm>
            <a:off x="4187925" y="4857426"/>
            <a:ext cx="254580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E. Bieber 1869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Carte de Visite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9D9121D-2277-3F50-3624-101627BE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531" y="1395265"/>
            <a:ext cx="2362591" cy="344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Verbreitete</a:t>
            </a:r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Arten</a:t>
            </a:r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 </a:t>
            </a:r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Fotografie</a:t>
            </a:r>
            <a:endParaRPr lang="en-US" sz="3467" b="1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3C670A-CDBB-D4A1-ECB2-46FCA05AED9B}"/>
              </a:ext>
            </a:extLst>
          </p:cNvPr>
          <p:cNvGrpSpPr/>
          <p:nvPr/>
        </p:nvGrpSpPr>
        <p:grpSpPr>
          <a:xfrm>
            <a:off x="372134" y="1594649"/>
            <a:ext cx="11447732" cy="4315313"/>
            <a:chOff x="433094" y="1876191"/>
            <a:chExt cx="11447732" cy="39250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1244062-4FCE-F1F2-F32B-5DCFA5B6F1D9}"/>
                </a:ext>
              </a:extLst>
            </p:cNvPr>
            <p:cNvGrpSpPr/>
            <p:nvPr/>
          </p:nvGrpSpPr>
          <p:grpSpPr>
            <a:xfrm>
              <a:off x="433094" y="1876191"/>
              <a:ext cx="11447732" cy="1708257"/>
              <a:chOff x="433094" y="1538371"/>
              <a:chExt cx="11447732" cy="1708257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33094" y="1538371"/>
                <a:ext cx="3596084" cy="1702522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en-IN" sz="28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463296" y="1752800"/>
                <a:ext cx="3535680" cy="426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b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Porträtfotografie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463296" y="2100580"/>
                <a:ext cx="3535680" cy="1146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Mit das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beliebteste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Medium der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Fotografie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im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19.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Jhd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.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Von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Ganzfigur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bis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nur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Augenbereich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alles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4358918" y="1538371"/>
                <a:ext cx="3596084" cy="1702522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en-IN" sz="28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4389120" y="1752800"/>
                <a:ext cx="3535680" cy="426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Post-Mortem </a:t>
                </a:r>
                <a:r>
                  <a:rPr lang="en-US" sz="1400" b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Fotografie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389120" y="2100580"/>
                <a:ext cx="3535680" cy="1146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Bilder von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verstorbenen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. Oft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bei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verstorbenen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Kindern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als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“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schlafend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”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Dargestellt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.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Besonders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Viktorianische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Ära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8284742" y="1538371"/>
                <a:ext cx="3596084" cy="1702522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en-IN" sz="28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314944" y="1752800"/>
                <a:ext cx="3535680" cy="426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b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Journalismusbilder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8314944" y="2100580"/>
                <a:ext cx="3535680" cy="1146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Bilder von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bekannten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Leuten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aber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auch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Bilder von Orten und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erste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Journalismusfotografie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im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19.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Jhd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94A47DB-48C5-6D9A-D01E-9AB987AEE81D}"/>
                </a:ext>
              </a:extLst>
            </p:cNvPr>
            <p:cNvGrpSpPr/>
            <p:nvPr/>
          </p:nvGrpSpPr>
          <p:grpSpPr>
            <a:xfrm>
              <a:off x="433094" y="4098691"/>
              <a:ext cx="3596084" cy="1702522"/>
              <a:chOff x="433094" y="4098691"/>
              <a:chExt cx="3596084" cy="170252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433094" y="4098691"/>
                <a:ext cx="3596084" cy="1702522"/>
              </a:xfrm>
              <a:prstGeom prst="rect">
                <a:avLst/>
              </a:prstGeom>
              <a:solidFill>
                <a:srgbClr val="2E4A6E"/>
              </a:solidFill>
              <a:ln w="12700">
                <a:noFill/>
                <a:prstDash val="solid"/>
              </a:ln>
              <a:effectLst>
                <a:outerShdw blurRad="63500" dist="254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en-IN" sz="28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463296" y="4277314"/>
                <a:ext cx="3535680" cy="426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b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Georgia" pitchFamily="34" charset="-122"/>
                    <a:cs typeface="Poppins" panose="00000500000000000000" pitchFamily="2" charset="0"/>
                  </a:rPr>
                  <a:t>Stereoskopie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463296" y="4648200"/>
                <a:ext cx="3535680" cy="1146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Art von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Fotografie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die dem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menschlichem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Auge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eine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3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Dimensionale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Wahrnehmung</a:t>
                </a:r>
                <a:r>
                  <a:rPr lang="en-US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vortäuscht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28" name="Shape 26"/>
          <p:cNvSpPr/>
          <p:nvPr/>
        </p:nvSpPr>
        <p:spPr>
          <a:xfrm>
            <a:off x="0" y="6315456"/>
            <a:ext cx="12192000" cy="4145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9" name="Text 27"/>
          <p:cNvSpPr/>
          <p:nvPr/>
        </p:nvSpPr>
        <p:spPr>
          <a:xfrm>
            <a:off x="609600" y="6339840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333" i="1" dirty="0">
                <a:solidFill>
                  <a:schemeClr val="bg1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„Die Fotografie ist der Spiegel mit Gedächtnis.“ - Oliver Wendell Holmes Sr.</a:t>
            </a:r>
            <a:endParaRPr lang="en-US" sz="1333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23932-F500-0D2C-17E9-57DE7787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A9BEC4-2119-5119-1E7E-F4B24AEB7648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1BC003-270F-49B6-3BFD-EFD68613547F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Beispiel</a:t>
            </a:r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 </a:t>
            </a:r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Stereoskopie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DA0C4E-8498-DCD1-1069-1C09E60000BB}"/>
              </a:ext>
            </a:extLst>
          </p:cNvPr>
          <p:cNvSpPr/>
          <p:nvPr/>
        </p:nvSpPr>
        <p:spPr>
          <a:xfrm>
            <a:off x="731520" y="2072640"/>
            <a:ext cx="10728960" cy="3779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44B741A-E79F-7699-3929-BDEC3EFC8AA5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FB40997-4D8F-5A7A-2009-00E22FF33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134" y="1150720"/>
            <a:ext cx="5069892" cy="51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5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Porträtfotografie</a:t>
            </a:r>
            <a:endParaRPr lang="en-US" sz="3467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6308CE-7339-19D6-1551-361777A0A7C7}"/>
              </a:ext>
            </a:extLst>
          </p:cNvPr>
          <p:cNvGrpSpPr/>
          <p:nvPr/>
        </p:nvGrpSpPr>
        <p:grpSpPr>
          <a:xfrm>
            <a:off x="402336" y="1341120"/>
            <a:ext cx="11387328" cy="4876800"/>
            <a:chOff x="438912" y="1219200"/>
            <a:chExt cx="11387328" cy="48768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E2EC0F6-485C-E7DB-69FB-EB90E30EEFFC}"/>
                </a:ext>
              </a:extLst>
            </p:cNvPr>
            <p:cNvGrpSpPr/>
            <p:nvPr/>
          </p:nvGrpSpPr>
          <p:grpSpPr>
            <a:xfrm>
              <a:off x="4267200" y="1219200"/>
              <a:ext cx="7559040" cy="3779520"/>
              <a:chOff x="4267200" y="1219200"/>
              <a:chExt cx="7559040" cy="377952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4267200" y="1219200"/>
                <a:ext cx="7559040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867" b="1" dirty="0" err="1">
                    <a:solidFill>
                      <a:srgbClr val="1A2B4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Verschiedene</a:t>
                </a:r>
                <a:r>
                  <a:rPr lang="en-US" sz="1867" b="1" dirty="0">
                    <a:solidFill>
                      <a:srgbClr val="1A2B4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67" b="1" dirty="0" err="1">
                    <a:solidFill>
                      <a:srgbClr val="1A2B4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Techniken</a:t>
                </a:r>
                <a:endParaRPr lang="en-US" sz="1867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4267200" y="182880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4267200" y="182880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4267200" y="204825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Objektive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510784" y="195072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Brennweite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zw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. 80mm – 135mm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führt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zu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Verzerrungsfreier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Wahrnehmung</a:t>
                </a:r>
                <a:endPara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endParaRPr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4267200" y="292608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4267200" y="292608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4267200" y="314553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Schärfentiefe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5510784" y="304800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Setzt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Person ab von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Hintergrund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oder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auch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Vordergrund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Oft auf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Augenpartie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fokussiert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4267200" y="402336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4267200" y="402336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4267200" y="424281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Beleuchtung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510784" y="414528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z.B.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Falten “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wegleuchten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”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oder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das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Gesicht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besonders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Betonen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indem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die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Stärke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Fläche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oder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Position der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Lichtquelle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entschieden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wird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9F1C03-7B6A-C019-4329-CC7236E8B3B6}"/>
                </a:ext>
              </a:extLst>
            </p:cNvPr>
            <p:cNvGrpSpPr/>
            <p:nvPr/>
          </p:nvGrpSpPr>
          <p:grpSpPr>
            <a:xfrm>
              <a:off x="438912" y="1219200"/>
              <a:ext cx="3681984" cy="4876800"/>
              <a:chOff x="487680" y="1219200"/>
              <a:chExt cx="3413760" cy="463296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487680" y="1219200"/>
                <a:ext cx="3413760" cy="463296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609600" y="1341120"/>
                <a:ext cx="3169920" cy="438912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1731264" y="2859024"/>
                <a:ext cx="926592" cy="926592"/>
              </a:xfrm>
              <a:prstGeom prst="ellipse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2023872" y="3151632"/>
                <a:ext cx="341376" cy="341376"/>
              </a:xfrm>
              <a:prstGeom prst="ellipse">
                <a:avLst/>
              </a:prstGeom>
              <a:solidFill>
                <a:srgbClr val="C8862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487680" y="5391820"/>
                <a:ext cx="3413760" cy="316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John F. Kennedy</a:t>
                </a:r>
              </a:p>
            </p:txBody>
          </p:sp>
        </p:grpSp>
      </p:grpSp>
      <p:pic>
        <p:nvPicPr>
          <p:cNvPr id="2050" name="Picture 2" descr="Seitenprofil mit starkem Blick nach oben (John F. Kennedy)">
            <a:extLst>
              <a:ext uri="{FF2B5EF4-FFF2-40B4-BE49-F238E27FC236}">
                <a16:creationId xmlns:a16="http://schemas.microsoft.com/office/drawing/2014/main" id="{DFD78F3C-EA8C-E663-1AEA-E92D4BFF4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23" y="1562500"/>
            <a:ext cx="2876656" cy="373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FF715-3B4A-24F1-50D9-5BF68AB5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237BBF-8631-6510-45ED-392F0329F912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sz="3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18954D-4FD6-C928-D47C-DCD767626F15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Inszenierungen</a:t>
            </a:r>
            <a:endParaRPr lang="en-US" sz="3467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D3AA604-1D9C-43E7-A3AC-1D720F0051EE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E8BCC9-EE97-9CCC-1C5C-269FF2861C41}"/>
              </a:ext>
            </a:extLst>
          </p:cNvPr>
          <p:cNvGrpSpPr/>
          <p:nvPr/>
        </p:nvGrpSpPr>
        <p:grpSpPr>
          <a:xfrm>
            <a:off x="402336" y="1341120"/>
            <a:ext cx="11387328" cy="4876800"/>
            <a:chOff x="438912" y="1219200"/>
            <a:chExt cx="11387328" cy="48768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078CD80-DDD5-9905-EC83-C3FA843FBC83}"/>
                </a:ext>
              </a:extLst>
            </p:cNvPr>
            <p:cNvGrpSpPr/>
            <p:nvPr/>
          </p:nvGrpSpPr>
          <p:grpSpPr>
            <a:xfrm>
              <a:off x="4267200" y="1219200"/>
              <a:ext cx="7559040" cy="3779520"/>
              <a:chOff x="4267200" y="1219200"/>
              <a:chExt cx="7559040" cy="3779520"/>
            </a:xfrm>
          </p:grpSpPr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0CE30CD0-5660-7FCC-B863-04D8DCE36C96}"/>
                  </a:ext>
                </a:extLst>
              </p:cNvPr>
              <p:cNvSpPr/>
              <p:nvPr/>
            </p:nvSpPr>
            <p:spPr>
              <a:xfrm>
                <a:off x="4267200" y="1219200"/>
                <a:ext cx="7559040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867" b="1" dirty="0" err="1">
                    <a:solidFill>
                      <a:srgbClr val="1A2B4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Bedeutungen</a:t>
                </a:r>
                <a:endParaRPr lang="en-US" sz="1867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Shape 8">
                <a:extLst>
                  <a:ext uri="{FF2B5EF4-FFF2-40B4-BE49-F238E27FC236}">
                    <a16:creationId xmlns:a16="http://schemas.microsoft.com/office/drawing/2014/main" id="{54BC5484-8C3D-577A-19B0-A14C98D1412A}"/>
                  </a:ext>
                </a:extLst>
              </p:cNvPr>
              <p:cNvSpPr/>
              <p:nvPr/>
            </p:nvSpPr>
            <p:spPr>
              <a:xfrm>
                <a:off x="4267200" y="182880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DE6A04F5-73F0-12C8-EF88-169C7A062423}"/>
                  </a:ext>
                </a:extLst>
              </p:cNvPr>
              <p:cNvSpPr/>
              <p:nvPr/>
            </p:nvSpPr>
            <p:spPr>
              <a:xfrm>
                <a:off x="4267200" y="182880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719D4E22-5BA5-C319-0014-2AA1B2CD704C}"/>
                  </a:ext>
                </a:extLst>
              </p:cNvPr>
              <p:cNvSpPr/>
              <p:nvPr/>
            </p:nvSpPr>
            <p:spPr>
              <a:xfrm>
                <a:off x="4267200" y="204825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Repräsen</a:t>
                </a:r>
                <a:endParaRPr lang="en-US" sz="1200" b="1" dirty="0">
                  <a:solidFill>
                    <a:srgbClr val="C886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endParaRPr>
              </a:p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tation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B771B0EC-1D52-D36E-02BB-18BD0007C589}"/>
                  </a:ext>
                </a:extLst>
              </p:cNvPr>
              <p:cNvSpPr/>
              <p:nvPr/>
            </p:nvSpPr>
            <p:spPr>
              <a:xfrm>
                <a:off x="5510784" y="195072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Porträts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sollen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Status,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Bildung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Stärke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Vermögen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oder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auch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einfach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generelle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Interessen</a:t>
                </a:r>
                <a:r>
                  <a:rPr lang="en-US" sz="1600" dirty="0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1A2B4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darstellen</a:t>
                </a:r>
                <a:endParaRPr lang="en-US" sz="1600" dirty="0">
                  <a:solidFill>
                    <a:srgbClr val="1A2B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endParaRPr>
              </a:p>
            </p:txBody>
          </p:sp>
          <p:sp>
            <p:nvSpPr>
              <p:cNvPr id="14" name="Shape 12">
                <a:extLst>
                  <a:ext uri="{FF2B5EF4-FFF2-40B4-BE49-F238E27FC236}">
                    <a16:creationId xmlns:a16="http://schemas.microsoft.com/office/drawing/2014/main" id="{FBB44394-4C52-989A-81D5-B212F1EB9203}"/>
                  </a:ext>
                </a:extLst>
              </p:cNvPr>
              <p:cNvSpPr/>
              <p:nvPr/>
            </p:nvSpPr>
            <p:spPr>
              <a:xfrm>
                <a:off x="4267200" y="292608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5" name="Shape 13">
                <a:extLst>
                  <a:ext uri="{FF2B5EF4-FFF2-40B4-BE49-F238E27FC236}">
                    <a16:creationId xmlns:a16="http://schemas.microsoft.com/office/drawing/2014/main" id="{1D94290E-5904-B4A8-BE59-5F300BB0D063}"/>
                  </a:ext>
                </a:extLst>
              </p:cNvPr>
              <p:cNvSpPr/>
              <p:nvPr/>
            </p:nvSpPr>
            <p:spPr>
              <a:xfrm>
                <a:off x="4267200" y="292608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7B92E1A-2162-188A-F15C-7A8127CFCB1E}"/>
                  </a:ext>
                </a:extLst>
              </p:cNvPr>
              <p:cNvSpPr/>
              <p:nvPr/>
            </p:nvSpPr>
            <p:spPr>
              <a:xfrm>
                <a:off x="4267200" y="314553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Gegenstände</a:t>
                </a:r>
                <a:r>
                  <a:rPr lang="en-US" sz="1200" b="1" dirty="0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oder</a:t>
                </a:r>
                <a:r>
                  <a:rPr lang="en-US" sz="1200" b="1" dirty="0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 </a:t>
                </a:r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Klamotten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85E8153D-19B4-B966-5040-8269CED3D360}"/>
                  </a:ext>
                </a:extLst>
              </p:cNvPr>
              <p:cNvSpPr/>
              <p:nvPr/>
            </p:nvSpPr>
            <p:spPr>
              <a:xfrm>
                <a:off x="5510784" y="304800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Porträts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die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einen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Job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darstellen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sollen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können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Gegenstände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wie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Palette von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Malern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involvieren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Das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gleiche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gilt für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Klammotten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wie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Kittel</a:t>
                </a:r>
              </a:p>
            </p:txBody>
          </p:sp>
          <p:sp>
            <p:nvSpPr>
              <p:cNvPr id="18" name="Shape 16">
                <a:extLst>
                  <a:ext uri="{FF2B5EF4-FFF2-40B4-BE49-F238E27FC236}">
                    <a16:creationId xmlns:a16="http://schemas.microsoft.com/office/drawing/2014/main" id="{B86BDDB6-14DB-9255-1625-6561A01F0844}"/>
                  </a:ext>
                </a:extLst>
              </p:cNvPr>
              <p:cNvSpPr/>
              <p:nvPr/>
            </p:nvSpPr>
            <p:spPr>
              <a:xfrm>
                <a:off x="4267200" y="4023360"/>
                <a:ext cx="7559040" cy="9753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Shape 17">
                <a:extLst>
                  <a:ext uri="{FF2B5EF4-FFF2-40B4-BE49-F238E27FC236}">
                    <a16:creationId xmlns:a16="http://schemas.microsoft.com/office/drawing/2014/main" id="{55AD3324-3D32-F763-F92A-241C55AAA3E0}"/>
                  </a:ext>
                </a:extLst>
              </p:cNvPr>
              <p:cNvSpPr/>
              <p:nvPr/>
            </p:nvSpPr>
            <p:spPr>
              <a:xfrm>
                <a:off x="4267200" y="4023360"/>
                <a:ext cx="1097280" cy="975360"/>
              </a:xfrm>
              <a:prstGeom prst="rect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829DA163-E302-BB7A-B358-63295EDABE6A}"/>
                  </a:ext>
                </a:extLst>
              </p:cNvPr>
              <p:cNvSpPr/>
              <p:nvPr/>
            </p:nvSpPr>
            <p:spPr>
              <a:xfrm>
                <a:off x="4267200" y="4242816"/>
                <a:ext cx="1097280" cy="536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 err="1">
                    <a:solidFill>
                      <a:srgbClr val="C8862A"/>
                    </a:solidFill>
                    <a:latin typeface="Poppins" panose="00000500000000000000" pitchFamily="2" charset="0"/>
                    <a:ea typeface="Calibri" pitchFamily="34" charset="-122"/>
                    <a:cs typeface="Poppins" panose="00000500000000000000" pitchFamily="2" charset="0"/>
                  </a:rPr>
                  <a:t>Künstlerisch</a:t>
                </a:r>
                <a:endParaRPr lang="en-US" sz="12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C5340AE4-BB62-8DD5-06BB-4C27EF757118}"/>
                  </a:ext>
                </a:extLst>
              </p:cNvPr>
              <p:cNvSpPr/>
              <p:nvPr/>
            </p:nvSpPr>
            <p:spPr>
              <a:xfrm>
                <a:off x="5510784" y="4145280"/>
                <a:ext cx="62423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Piktorialismus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Mit Hilfe von Licht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oder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Objektiv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eine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künstlerische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manchmal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übertriebene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Darstellung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eines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Charakters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8E8C47A-F4A3-9BAC-0AFF-AB36099A11FB}"/>
                </a:ext>
              </a:extLst>
            </p:cNvPr>
            <p:cNvGrpSpPr/>
            <p:nvPr/>
          </p:nvGrpSpPr>
          <p:grpSpPr>
            <a:xfrm>
              <a:off x="438912" y="1219200"/>
              <a:ext cx="3681984" cy="4876800"/>
              <a:chOff x="487680" y="1219200"/>
              <a:chExt cx="3413760" cy="4632960"/>
            </a:xfrm>
          </p:grpSpPr>
          <p:sp>
            <p:nvSpPr>
              <p:cNvPr id="4" name="Shape 2">
                <a:extLst>
                  <a:ext uri="{FF2B5EF4-FFF2-40B4-BE49-F238E27FC236}">
                    <a16:creationId xmlns:a16="http://schemas.microsoft.com/office/drawing/2014/main" id="{F0004954-F1D6-9C82-17E6-3CE98B0E2564}"/>
                  </a:ext>
                </a:extLst>
              </p:cNvPr>
              <p:cNvSpPr/>
              <p:nvPr/>
            </p:nvSpPr>
            <p:spPr>
              <a:xfrm>
                <a:off x="487680" y="1219200"/>
                <a:ext cx="3413760" cy="463296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2D5C34DF-BB4C-9FF2-9EB4-1AFD9AF92F1C}"/>
                  </a:ext>
                </a:extLst>
              </p:cNvPr>
              <p:cNvSpPr/>
              <p:nvPr/>
            </p:nvSpPr>
            <p:spPr>
              <a:xfrm>
                <a:off x="609600" y="1341120"/>
                <a:ext cx="3169920" cy="4389120"/>
              </a:xfrm>
              <a:prstGeom prst="rect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046747BE-ECDD-D8F2-CCFD-6399D4EA56DF}"/>
                  </a:ext>
                </a:extLst>
              </p:cNvPr>
              <p:cNvSpPr/>
              <p:nvPr/>
            </p:nvSpPr>
            <p:spPr>
              <a:xfrm>
                <a:off x="1731264" y="2859024"/>
                <a:ext cx="926592" cy="926592"/>
              </a:xfrm>
              <a:prstGeom prst="ellipse">
                <a:avLst/>
              </a:prstGeom>
              <a:solidFill>
                <a:srgbClr val="1A2B4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302D514D-5CCE-DE9F-CB25-F0074B83E21C}"/>
                  </a:ext>
                </a:extLst>
              </p:cNvPr>
              <p:cNvSpPr/>
              <p:nvPr/>
            </p:nvSpPr>
            <p:spPr>
              <a:xfrm>
                <a:off x="2023872" y="3151632"/>
                <a:ext cx="341376" cy="341376"/>
              </a:xfrm>
              <a:prstGeom prst="ellipse">
                <a:avLst/>
              </a:prstGeom>
              <a:solidFill>
                <a:srgbClr val="C8862A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320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D5E68442-4E2D-B497-A98E-5AA787BA0472}"/>
                  </a:ext>
                </a:extLst>
              </p:cNvPr>
              <p:cNvSpPr/>
              <p:nvPr/>
            </p:nvSpPr>
            <p:spPr>
              <a:xfrm>
                <a:off x="487680" y="5021885"/>
                <a:ext cx="3413760" cy="316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Honoré de Balzac 1842</a:t>
                </a:r>
              </a:p>
              <a:p>
                <a:pPr algn="ctr"/>
                <a:r>
                  <a:rPr lang="en-US" sz="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Daguerrotypie</a:t>
                </a:r>
                <a:endParaRPr lang="en-US" sz="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B4F5B330-B145-68E8-39D9-2995AFB28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81" y="1598766"/>
            <a:ext cx="3214692" cy="361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16167079-B7D9-DA89-0DB8-EF7CCE34A9C6}"/>
              </a:ext>
            </a:extLst>
          </p:cNvPr>
          <p:cNvSpPr/>
          <p:nvPr/>
        </p:nvSpPr>
        <p:spPr>
          <a:xfrm>
            <a:off x="4345245" y="5340096"/>
            <a:ext cx="6242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Gegen Ende 19.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Jhd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immer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mehr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spezifische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Inszenierungen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anstelle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von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spontanen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Momenten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52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23B29-467F-D31A-5C8D-75122B66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B49ECC-151F-73EF-0651-7C286C61070D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E6B606-ABAC-D5A2-EDF7-234B5860CE92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Selbstbild</a:t>
            </a:r>
            <a:r>
              <a:rPr lang="en-US" sz="3467" b="1" dirty="0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 vs </a:t>
            </a:r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Fremdbild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BBAF204-CDA6-14A9-D9A3-B0D57B57EA63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BF7A9D-9D0D-3FE1-E139-1F8C9A02496A}"/>
              </a:ext>
            </a:extLst>
          </p:cNvPr>
          <p:cNvGrpSpPr/>
          <p:nvPr/>
        </p:nvGrpSpPr>
        <p:grpSpPr>
          <a:xfrm>
            <a:off x="365762" y="1280159"/>
            <a:ext cx="5610639" cy="4754881"/>
            <a:chOff x="365762" y="1280159"/>
            <a:chExt cx="5610639" cy="4754881"/>
          </a:xfrm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F8F05D47-B8E9-00F1-44F3-BAFD5FA02969}"/>
                </a:ext>
              </a:extLst>
            </p:cNvPr>
            <p:cNvSpPr/>
            <p:nvPr/>
          </p:nvSpPr>
          <p:spPr>
            <a:xfrm>
              <a:off x="365762" y="1280159"/>
              <a:ext cx="5610639" cy="4754881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697669F2-4F2B-C601-ED3A-B3E4F4818DCB}"/>
                </a:ext>
              </a:extLst>
            </p:cNvPr>
            <p:cNvSpPr/>
            <p:nvPr/>
          </p:nvSpPr>
          <p:spPr>
            <a:xfrm>
              <a:off x="365762" y="1280160"/>
              <a:ext cx="5610639" cy="536448"/>
            </a:xfrm>
            <a:prstGeom prst="rect">
              <a:avLst/>
            </a:prstGeom>
            <a:solidFill>
              <a:srgbClr val="1A2B4A"/>
            </a:solidFill>
            <a:ln w="12700">
              <a:noFill/>
              <a:prstDash val="solid"/>
            </a:ln>
          </p:spPr>
          <p:txBody>
            <a:bodyPr/>
            <a:lstStyle/>
            <a:p>
              <a:pPr algn="ctr"/>
              <a:endParaRPr lang="en-US" sz="16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7D0A3B-9A00-20D9-D49F-CFD9C37D0C7F}"/>
                </a:ext>
              </a:extLst>
            </p:cNvPr>
            <p:cNvSpPr txBox="1"/>
            <p:nvPr/>
          </p:nvSpPr>
          <p:spPr>
            <a:xfrm>
              <a:off x="401544" y="1363719"/>
              <a:ext cx="557485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accent3"/>
                  </a:solidFill>
                  <a:latin typeface="Poppins" panose="00000500000000000000" pitchFamily="2" charset="0"/>
                  <a:ea typeface="Georgia" pitchFamily="34" charset="-122"/>
                  <a:cs typeface="Poppins" panose="00000500000000000000" pitchFamily="2" charset="0"/>
                </a:rPr>
                <a:t>Selbstbild</a:t>
              </a:r>
              <a:endParaRPr lang="en-US" sz="16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1FC55E-4B12-160C-A25E-8D426E984B2C}"/>
                </a:ext>
              </a:extLst>
            </p:cNvPr>
            <p:cNvSpPr txBox="1"/>
            <p:nvPr/>
          </p:nvSpPr>
          <p:spPr>
            <a:xfrm>
              <a:off x="487680" y="2138635"/>
              <a:ext cx="5232400" cy="2000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Ideale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Darstellung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eines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selbst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und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wie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man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sich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selber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sieht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Schlüsse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auf die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eigene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Identität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sind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möglich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Oft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realitätsabweichend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z.B.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Instagram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Influenzer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, die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nur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die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Positiven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Dinge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zeigen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bzw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nur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bei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gutem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Aussehen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zeigen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" name="Group 44">
            <a:extLst>
              <a:ext uri="{FF2B5EF4-FFF2-40B4-BE49-F238E27FC236}">
                <a16:creationId xmlns:a16="http://schemas.microsoft.com/office/drawing/2014/main" id="{8E29B9D6-CBDD-82C7-0CA4-BA15E6A72085}"/>
              </a:ext>
            </a:extLst>
          </p:cNvPr>
          <p:cNvGrpSpPr/>
          <p:nvPr/>
        </p:nvGrpSpPr>
        <p:grpSpPr>
          <a:xfrm>
            <a:off x="6215601" y="1280158"/>
            <a:ext cx="5610639" cy="4754881"/>
            <a:chOff x="365762" y="1280159"/>
            <a:chExt cx="5610639" cy="4754881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45541BE-98A1-CE0F-F6BB-E5F14105B726}"/>
                </a:ext>
              </a:extLst>
            </p:cNvPr>
            <p:cNvSpPr/>
            <p:nvPr/>
          </p:nvSpPr>
          <p:spPr>
            <a:xfrm>
              <a:off x="365762" y="1280159"/>
              <a:ext cx="5610639" cy="4754881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algn="ctr"/>
              <a:endParaRPr lang="en-IN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BCECCE55-068C-787D-1F9B-C952D4F89436}"/>
                </a:ext>
              </a:extLst>
            </p:cNvPr>
            <p:cNvSpPr/>
            <p:nvPr/>
          </p:nvSpPr>
          <p:spPr>
            <a:xfrm>
              <a:off x="365762" y="1280160"/>
              <a:ext cx="5610639" cy="536448"/>
            </a:xfrm>
            <a:prstGeom prst="rect">
              <a:avLst/>
            </a:prstGeom>
            <a:solidFill>
              <a:srgbClr val="1A2B4A"/>
            </a:solidFill>
            <a:ln w="12700">
              <a:noFill/>
              <a:prstDash val="solid"/>
            </a:ln>
          </p:spPr>
          <p:txBody>
            <a:bodyPr/>
            <a:lstStyle/>
            <a:p>
              <a:pPr algn="ctr"/>
              <a:endParaRPr lang="en-US" sz="16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Box 35">
              <a:extLst>
                <a:ext uri="{FF2B5EF4-FFF2-40B4-BE49-F238E27FC236}">
                  <a16:creationId xmlns:a16="http://schemas.microsoft.com/office/drawing/2014/main" id="{8CCAE1CF-84F3-CC57-D72E-DFA3EB29AB4E}"/>
                </a:ext>
              </a:extLst>
            </p:cNvPr>
            <p:cNvSpPr txBox="1"/>
            <p:nvPr/>
          </p:nvSpPr>
          <p:spPr>
            <a:xfrm>
              <a:off x="401544" y="1363719"/>
              <a:ext cx="557485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Fremdbild</a:t>
              </a:r>
              <a:endPara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Box 40">
              <a:extLst>
                <a:ext uri="{FF2B5EF4-FFF2-40B4-BE49-F238E27FC236}">
                  <a16:creationId xmlns:a16="http://schemas.microsoft.com/office/drawing/2014/main" id="{6BA7D0CA-AA1D-A79D-0067-14B266B37029}"/>
                </a:ext>
              </a:extLst>
            </p:cNvPr>
            <p:cNvSpPr txBox="1"/>
            <p:nvPr/>
          </p:nvSpPr>
          <p:spPr>
            <a:xfrm>
              <a:off x="487680" y="2138635"/>
              <a:ext cx="5232400" cy="1354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Zeigt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mehr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wie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die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Fotografierte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Person auf Andere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wirkt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Oft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ehrlicheres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und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realitätsnahe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Darstellung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Authentisch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ohne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idealisierte</a:t>
              </a:r>
              <a:r>
                <a:rPr lang="en-US" sz="14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Inszenierung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9" name="TextBox 40">
            <a:extLst>
              <a:ext uri="{FF2B5EF4-FFF2-40B4-BE49-F238E27FC236}">
                <a16:creationId xmlns:a16="http://schemas.microsoft.com/office/drawing/2014/main" id="{BEC6657F-483D-FD47-562E-45E282AA5141}"/>
              </a:ext>
            </a:extLst>
          </p:cNvPr>
          <p:cNvSpPr txBox="1"/>
          <p:nvPr/>
        </p:nvSpPr>
        <p:spPr>
          <a:xfrm>
            <a:off x="6337519" y="4053499"/>
            <a:ext cx="5232400" cy="1031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Bei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Porträtfotografie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muss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Fotograf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und Motiv stark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kommunizieren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damit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beide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am Ende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zufrieden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sind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098" name="Picture 2" descr="Katze spiegelt sich als Tiger im Spiegel.">
            <a:extLst>
              <a:ext uri="{FF2B5EF4-FFF2-40B4-BE49-F238E27FC236}">
                <a16:creationId xmlns:a16="http://schemas.microsoft.com/office/drawing/2014/main" id="{B803FD98-8B6C-2536-47B7-DF48E55E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764" y="4568031"/>
            <a:ext cx="2787316" cy="146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56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5C4C5-D05D-8E6C-975D-AE0D775C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B1DC08D8-7B32-D754-C60E-B5C5E655AB40}"/>
              </a:ext>
            </a:extLst>
          </p:cNvPr>
          <p:cNvSpPr/>
          <p:nvPr/>
        </p:nvSpPr>
        <p:spPr>
          <a:xfrm>
            <a:off x="5752699" y="1267968"/>
            <a:ext cx="5143099" cy="4754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de-DE" sz="1100" dirty="0"/>
              <a:t>Bildquellen:</a:t>
            </a:r>
          </a:p>
          <a:p>
            <a:r>
              <a:rPr lang="de-DE" sz="1100" dirty="0"/>
              <a:t>https://de.wikipedia.org/wiki/Portr%C3%A4tfotografie</a:t>
            </a:r>
          </a:p>
          <a:p>
            <a:r>
              <a:rPr lang="de-DE" sz="1100" dirty="0"/>
              <a:t>https://de.wikipedia.org/wiki/Visitformat</a:t>
            </a:r>
          </a:p>
          <a:p>
            <a:r>
              <a:rPr lang="de-DE" sz="1100" dirty="0"/>
              <a:t>https://www.das-pta-magazin.de/news/fremd-und-selbstbild-immer-eine-unstimmigkeit-2309630.html</a:t>
            </a:r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de-DE" sz="1100" dirty="0"/>
          </a:p>
          <a:p>
            <a:endParaRPr lang="en-IN" sz="11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F266E23-B98C-339C-5E88-3E5608764FE5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0054C2-C2E0-D17D-A0B4-C56B3D5278FD}"/>
              </a:ext>
            </a:extLst>
          </p:cNvPr>
          <p:cNvSpPr/>
          <p:nvPr/>
        </p:nvSpPr>
        <p:spPr>
          <a:xfrm>
            <a:off x="48768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  <a:latin typeface="Poppins" panose="00000500000000000000" pitchFamily="2" charset="0"/>
                <a:ea typeface="Georgia" pitchFamily="34" charset="-122"/>
                <a:cs typeface="Poppins" panose="00000500000000000000" pitchFamily="2" charset="0"/>
              </a:rPr>
              <a:t>Quellen</a:t>
            </a:r>
            <a:endParaRPr lang="en-US" sz="3467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E51E70-F992-E5CD-C7BE-BE7916FDD501}"/>
              </a:ext>
            </a:extLst>
          </p:cNvPr>
          <p:cNvSpPr/>
          <p:nvPr/>
        </p:nvSpPr>
        <p:spPr>
          <a:xfrm>
            <a:off x="731520" y="2072640"/>
            <a:ext cx="10728960" cy="3779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2228255-0401-7CB7-E9E3-638BCD613A2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A27"/>
          </a:solidFill>
          <a:ln w="12700">
            <a:solidFill>
              <a:srgbClr val="111A2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D7E6A3-7CB3-DDD0-61C7-3083C02ACC7C}"/>
              </a:ext>
            </a:extLst>
          </p:cNvPr>
          <p:cNvGrpSpPr/>
          <p:nvPr/>
        </p:nvGrpSpPr>
        <p:grpSpPr>
          <a:xfrm>
            <a:off x="487680" y="1280160"/>
            <a:ext cx="11216640" cy="4754880"/>
            <a:chOff x="487680" y="1280160"/>
            <a:chExt cx="11216640" cy="475488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78D6DE4-2F1F-1278-D85A-317A30C6864F}"/>
                </a:ext>
              </a:extLst>
            </p:cNvPr>
            <p:cNvSpPr/>
            <p:nvPr/>
          </p:nvSpPr>
          <p:spPr>
            <a:xfrm>
              <a:off x="487680" y="1280160"/>
              <a:ext cx="5143099" cy="475488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r>
                <a:rPr lang="de-DE" sz="1100" dirty="0"/>
                <a:t>KEMP, Wolfgang. Geschichte der Fotografie. </a:t>
              </a:r>
              <a:r>
                <a:rPr lang="de-DE" sz="1100" i="1" dirty="0"/>
                <a:t>Von Daguerre bis Gursky, München</a:t>
              </a:r>
              <a:r>
                <a:rPr lang="de-DE" sz="1100" dirty="0"/>
                <a:t>, 2011</a:t>
              </a:r>
            </a:p>
            <a:p>
              <a:endParaRPr lang="de-DE" sz="1100" dirty="0"/>
            </a:p>
            <a:p>
              <a:endParaRPr lang="de-DE" sz="1100" dirty="0"/>
            </a:p>
            <a:p>
              <a:endParaRPr lang="en-IN" sz="1100" dirty="0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66BC67CD-60D4-778A-F522-31E1556E83BE}"/>
                </a:ext>
              </a:extLst>
            </p:cNvPr>
            <p:cNvSpPr/>
            <p:nvPr/>
          </p:nvSpPr>
          <p:spPr>
            <a:xfrm>
              <a:off x="487680" y="5681472"/>
              <a:ext cx="11216640" cy="341376"/>
            </a:xfrm>
            <a:prstGeom prst="rect">
              <a:avLst/>
            </a:prstGeom>
            <a:solidFill>
              <a:srgbClr val="C8862A"/>
            </a:solidFill>
            <a:ln w="12700">
              <a:solidFill>
                <a:srgbClr val="C8862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4F89C6-8696-07E3-8A4A-2C80C0912484}"/>
                </a:ext>
              </a:extLst>
            </p:cNvPr>
            <p:cNvSpPr txBox="1"/>
            <p:nvPr/>
          </p:nvSpPr>
          <p:spPr>
            <a:xfrm>
              <a:off x="609600" y="1975104"/>
              <a:ext cx="1097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935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hlinkClick r:id="rId2"/>
            <a:extLst>
              <a:ext uri="{FF2B5EF4-FFF2-40B4-BE49-F238E27FC236}">
                <a16:creationId xmlns:a16="http://schemas.microsoft.com/office/drawing/2014/main" id="{37293F16-E1B8-BC71-DE3B-D73D56CACD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39867" y="3501127"/>
            <a:ext cx="492919" cy="48184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67FCB6F-885E-A00A-1B1E-04C4999F7FC7}"/>
              </a:ext>
            </a:extLst>
          </p:cNvPr>
          <p:cNvGrpSpPr/>
          <p:nvPr/>
        </p:nvGrpSpPr>
        <p:grpSpPr>
          <a:xfrm>
            <a:off x="1659927" y="948455"/>
            <a:ext cx="8872151" cy="4961091"/>
            <a:chOff x="1659927" y="1076569"/>
            <a:chExt cx="8872151" cy="496109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09F021-672A-6770-ABAB-1AB27C632457}"/>
                </a:ext>
              </a:extLst>
            </p:cNvPr>
            <p:cNvGrpSpPr/>
            <p:nvPr/>
          </p:nvGrpSpPr>
          <p:grpSpPr>
            <a:xfrm>
              <a:off x="1659927" y="1780011"/>
              <a:ext cx="8872151" cy="4257649"/>
              <a:chOff x="1659925" y="1576395"/>
              <a:chExt cx="8872151" cy="425764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6B2DB6-F65F-C201-1385-4C496774F76E}"/>
                  </a:ext>
                </a:extLst>
              </p:cNvPr>
              <p:cNvSpPr txBox="1"/>
              <p:nvPr/>
            </p:nvSpPr>
            <p:spPr>
              <a:xfrm>
                <a:off x="3046970" y="5495489"/>
                <a:ext cx="60980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23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  <a:sym typeface="Arial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www.slideegg.com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DF86DE1-D22D-6DCE-B1B0-7C1BAC4ACB23}"/>
                  </a:ext>
                </a:extLst>
              </p:cNvPr>
              <p:cNvGrpSpPr/>
              <p:nvPr/>
            </p:nvGrpSpPr>
            <p:grpSpPr>
              <a:xfrm>
                <a:off x="1659925" y="1576395"/>
                <a:ext cx="8872151" cy="3560071"/>
                <a:chOff x="1659925" y="1622451"/>
                <a:chExt cx="8872151" cy="3560071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7B98AC0-609B-85AC-833F-F0E8B0E773D1}"/>
                    </a:ext>
                  </a:extLst>
                </p:cNvPr>
                <p:cNvSpPr txBox="1"/>
                <p:nvPr/>
              </p:nvSpPr>
              <p:spPr>
                <a:xfrm>
                  <a:off x="1659925" y="1622451"/>
                  <a:ext cx="8872151" cy="14773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5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Thank You!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We respect your valuable time with SlideEgg!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If you have any questions, please reach us</a:t>
                  </a:r>
                </a:p>
              </p:txBody>
            </p: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A242B670-3AEC-A6AF-09C6-D568F57FFF18}"/>
                    </a:ext>
                  </a:extLst>
                </p:cNvPr>
                <p:cNvGrpSpPr/>
                <p:nvPr/>
              </p:nvGrpSpPr>
              <p:grpSpPr>
                <a:xfrm>
                  <a:off x="4876384" y="3340393"/>
                  <a:ext cx="2891345" cy="475128"/>
                  <a:chOff x="3867776" y="3284500"/>
                  <a:chExt cx="4788953" cy="786958"/>
                </a:xfrm>
              </p:grpSpPr>
              <p:pic>
                <p:nvPicPr>
                  <p:cNvPr id="8" name="Picture 4" descr="Facebook icon circle Logo PNG Vector (EPS) Free Download">
                    <a:hlinkClick r:id="rId5"/>
                    <a:extLst>
                      <a:ext uri="{FF2B5EF4-FFF2-40B4-BE49-F238E27FC236}">
                        <a16:creationId xmlns:a16="http://schemas.microsoft.com/office/drawing/2014/main" id="{0DAC3375-90A6-AE14-56D7-3312A9DD6E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3867776" y="3301450"/>
                    <a:ext cx="752318" cy="75231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" name="Picture 6" descr="Instagram Logo Icon Png #96303 - Free Icons Library">
                    <a:hlinkClick r:id="rId7"/>
                    <a:extLst>
                      <a:ext uri="{FF2B5EF4-FFF2-40B4-BE49-F238E27FC236}">
                        <a16:creationId xmlns:a16="http://schemas.microsoft.com/office/drawing/2014/main" id="{193F9C31-1B00-C74C-9FC4-BCC9AAB46B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4790486" y="3301451"/>
                    <a:ext cx="762129" cy="75231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Picture 8" descr="Youtube PNG images free download">
                    <a:hlinkClick r:id="rId9"/>
                    <a:extLst>
                      <a:ext uri="{FF2B5EF4-FFF2-40B4-BE49-F238E27FC236}">
                        <a16:creationId xmlns:a16="http://schemas.microsoft.com/office/drawing/2014/main" id="{1C9CDDB2-A139-DE55-DB59-0B7B3A9B24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 cstate="screen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5556533" y="3284500"/>
                    <a:ext cx="1112851" cy="78695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" name="Picture 12" descr="LinkedIn Logo – Free PNG format download (2022)">
                    <a:hlinkClick r:id="rId11"/>
                    <a:extLst>
                      <a:ext uri="{FF2B5EF4-FFF2-40B4-BE49-F238E27FC236}">
                        <a16:creationId xmlns:a16="http://schemas.microsoft.com/office/drawing/2014/main" id="{FD86496D-2018-4FB7-E852-376652ACBC9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 cstate="screen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7279030" y="3292560"/>
                    <a:ext cx="1377699" cy="77495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8F8DB4F-F9F5-7DA6-D2FC-96A6BE003AF8}"/>
                    </a:ext>
                  </a:extLst>
                </p:cNvPr>
                <p:cNvSpPr/>
                <p:nvPr/>
              </p:nvSpPr>
              <p:spPr>
                <a:xfrm>
                  <a:off x="2668858" y="4659302"/>
                  <a:ext cx="685428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CREDIT:</a:t>
                  </a: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 SlideEgg created this PowerPoint template.</a:t>
                  </a:r>
                </a:p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Let this slide be kept for attribution.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9775FB97-F0DB-8D2C-C770-745F40E90426}"/>
                    </a:ext>
                  </a:extLst>
                </p:cNvPr>
                <p:cNvSpPr/>
                <p:nvPr/>
              </p:nvSpPr>
              <p:spPr>
                <a:xfrm>
                  <a:off x="2668858" y="4098909"/>
                  <a:ext cx="6854283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23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Do you have a design request, please visit our </a:t>
                  </a:r>
                  <a:r>
                    <a:rPr kumimoji="0" lang="en-US" sz="18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  <a:hlinkClick r:id="rId1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Deckez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  <a:sym typeface="Arial"/>
                    </a:rPr>
                    <a:t> site.</a:t>
                  </a: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BC8C20-6CE0-1E37-FC2F-A0A61ABDD607}"/>
                </a:ext>
              </a:extLst>
            </p:cNvPr>
            <p:cNvGrpSpPr/>
            <p:nvPr/>
          </p:nvGrpSpPr>
          <p:grpSpPr>
            <a:xfrm>
              <a:off x="4989131" y="1076569"/>
              <a:ext cx="2213742" cy="491941"/>
              <a:chOff x="4989131" y="1076569"/>
              <a:chExt cx="2213742" cy="491941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D0DF191E-5FF4-6486-652C-75800835D1C5}"/>
                  </a:ext>
                </a:extLst>
              </p:cNvPr>
              <p:cNvSpPr/>
              <p:nvPr/>
            </p:nvSpPr>
            <p:spPr>
              <a:xfrm>
                <a:off x="4989131" y="1076569"/>
                <a:ext cx="2213742" cy="491941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2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  <a:sym typeface="Arial"/>
                </a:endParaRPr>
              </a:p>
            </p:txBody>
          </p:sp>
          <p:pic>
            <p:nvPicPr>
              <p:cNvPr id="11" name="Picture 2" descr="SlideEgg">
                <a:extLst>
                  <a:ext uri="{FF2B5EF4-FFF2-40B4-BE49-F238E27FC236}">
                    <a16:creationId xmlns:a16="http://schemas.microsoft.com/office/drawing/2014/main" id="{068D8FAE-9D44-1B64-118D-FA2484C0A9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4202" y="1076569"/>
                <a:ext cx="1603600" cy="491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26605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Custom 32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03030"/>
      </a:accent1>
      <a:accent2>
        <a:srgbClr val="355034"/>
      </a:accent2>
      <a:accent3>
        <a:srgbClr val="C8862A"/>
      </a:accent3>
      <a:accent4>
        <a:srgbClr val="E8EFF8"/>
      </a:accent4>
      <a:accent5>
        <a:srgbClr val="1A2B4A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2148</Words>
  <Application>Microsoft Office PowerPoint</Application>
  <PresentationFormat>Breitbild</PresentationFormat>
  <Paragraphs>349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Poppins</vt:lpstr>
      <vt:lpstr>Segoe UI</vt:lpstr>
      <vt:lpstr>Office 2013 - 2022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Attack on Pearl Harbor</dc:title>
  <dc:subject>PptxGenJS Presentation</dc:subject>
  <dc:creator>PptxGenJS</dc:creator>
  <cp:lastModifiedBy>Maximilian FG</cp:lastModifiedBy>
  <cp:revision>14</cp:revision>
  <dcterms:created xsi:type="dcterms:W3CDTF">2026-03-20T09:07:12Z</dcterms:created>
  <dcterms:modified xsi:type="dcterms:W3CDTF">2026-03-29T13:32:23Z</dcterms:modified>
</cp:coreProperties>
</file>